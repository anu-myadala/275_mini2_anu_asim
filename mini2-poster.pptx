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56032"/>
            <a:ext cx="3474720" cy="41148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3000" b="1">
                <a:solidFill>
                  <a:srgbClr val="FACC15"/>
                </a:solidFill>
              </a:defRPr>
            </a:pPr>
            <a:r>
              <a:t>THE 32 KB KNEE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310896"/>
            <a:ext cx="6675120" cy="310896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500" b="1">
                <a:solidFill>
                  <a:srgbClr val="E2E8F0"/>
                </a:solidFill>
              </a:defRPr>
            </a:pPr>
            <a:r>
              <a:t>Why 50 pages at 32 KB almost tied 4 pages at 512 KB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310896"/>
            <a:ext cx="1188720" cy="219456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Anukrithi + Asim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67328" y="621792"/>
            <a:ext cx="7498079" cy="201168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880" b="0">
                <a:solidFill>
                  <a:srgbClr val="94A3B8"/>
                </a:solidFill>
              </a:defRPr>
            </a:pPr>
            <a:r>
              <a:t>NYC 311 2020-present | 80k returned rows | 20-byte records | A-F host1, G/H/I host2 | 30 runs/chunk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914400"/>
            <a:ext cx="3886200" cy="2606040"/>
          </a:xfrm>
          <a:prstGeom prst="roundRect">
            <a:avLst/>
          </a:prstGeom>
          <a:solidFill>
            <a:srgbClr val="11182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oster_chunk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078992"/>
            <a:ext cx="3566160" cy="225856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407408" y="914400"/>
            <a:ext cx="3246120" cy="2606040"/>
          </a:xfrm>
          <a:prstGeom prst="round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042415"/>
            <a:ext cx="2834640" cy="201168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ctr">
              <a:defRPr sz="1250" b="1">
                <a:solidFill>
                  <a:srgbClr val="F8FAFC"/>
                </a:solidFill>
              </a:defRPr>
            </a:pPr>
            <a:r>
              <a:t>Tree path: client only talks to 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00600" y="1645920"/>
            <a:ext cx="777240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937760" y="1645920"/>
            <a:ext cx="640080" cy="594360"/>
          </a:xfrm>
          <a:prstGeom prst="line">
            <a:avLst/>
          </a:prstGeom>
          <a:ln w="1397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5486400" y="1645920"/>
            <a:ext cx="91440" cy="594360"/>
          </a:xfrm>
          <a:prstGeom prst="line">
            <a:avLst/>
          </a:prstGeom>
          <a:ln w="1397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577840" y="1645920"/>
            <a:ext cx="457200" cy="594360"/>
          </a:xfrm>
          <a:prstGeom prst="line">
            <a:avLst/>
          </a:prstGeom>
          <a:ln w="1397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577840" y="1645920"/>
            <a:ext cx="1005840" cy="594360"/>
          </a:xfrm>
          <a:prstGeom prst="line">
            <a:avLst/>
          </a:prstGeom>
          <a:ln w="1397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4617720" y="2240280"/>
            <a:ext cx="320040" cy="557784"/>
          </a:xfrm>
          <a:prstGeom prst="line">
            <a:avLst/>
          </a:prstGeom>
          <a:ln w="1397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937760" y="2240280"/>
            <a:ext cx="45720" cy="557784"/>
          </a:xfrm>
          <a:prstGeom prst="line">
            <a:avLst/>
          </a:prstGeom>
          <a:ln w="1397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937760" y="2240280"/>
            <a:ext cx="411480" cy="557784"/>
          </a:xfrm>
          <a:prstGeom prst="line">
            <a:avLst/>
          </a:prstGeom>
          <a:ln w="1397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49240" y="2798064"/>
            <a:ext cx="0" cy="448056"/>
          </a:xfrm>
          <a:prstGeom prst="line">
            <a:avLst/>
          </a:prstGeom>
          <a:ln w="1397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4636008" y="1481328"/>
            <a:ext cx="329184" cy="329184"/>
          </a:xfrm>
          <a:prstGeom prst="ellipse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8FAFC"/>
                </a:solidFill>
              </a:defRPr>
            </a:pPr>
            <a:r>
              <a:t>C</a:t>
            </a:r>
          </a:p>
        </p:txBody>
      </p:sp>
      <p:sp>
        <p:nvSpPr>
          <p:cNvPr id="21" name="Oval 20"/>
          <p:cNvSpPr/>
          <p:nvPr/>
        </p:nvSpPr>
        <p:spPr>
          <a:xfrm>
            <a:off x="5413248" y="1481328"/>
            <a:ext cx="329184" cy="329184"/>
          </a:xfrm>
          <a:prstGeom prst="ellipse">
            <a:avLst/>
          </a:prstGeom>
          <a:solidFill>
            <a:srgbClr val="3B2F12"/>
          </a:solidFill>
          <a:ln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ACC15"/>
                </a:solidFill>
              </a:defRPr>
            </a:pPr>
            <a:r>
              <a:t>A</a:t>
            </a:r>
          </a:p>
        </p:txBody>
      </p:sp>
      <p:sp>
        <p:nvSpPr>
          <p:cNvPr id="22" name="Oval 21"/>
          <p:cNvSpPr/>
          <p:nvPr/>
        </p:nvSpPr>
        <p:spPr>
          <a:xfrm>
            <a:off x="4773168" y="2075688"/>
            <a:ext cx="329184" cy="329184"/>
          </a:xfrm>
          <a:prstGeom prst="ellipse">
            <a:avLst/>
          </a:prstGeom>
          <a:solidFill>
            <a:srgbClr val="172033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8FAFC"/>
                </a:solidFill>
              </a:defRPr>
            </a:pPr>
            <a:r>
              <a:t>B</a:t>
            </a:r>
          </a:p>
        </p:txBody>
      </p:sp>
      <p:sp>
        <p:nvSpPr>
          <p:cNvPr id="23" name="Oval 22"/>
          <p:cNvSpPr/>
          <p:nvPr/>
        </p:nvSpPr>
        <p:spPr>
          <a:xfrm>
            <a:off x="4453128" y="2633472"/>
            <a:ext cx="329184" cy="329184"/>
          </a:xfrm>
          <a:prstGeom prst="ellipse">
            <a:avLst/>
          </a:prstGeom>
          <a:solidFill>
            <a:srgbClr val="172033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8FAFC"/>
                </a:solidFill>
              </a:defRPr>
            </a:pPr>
            <a:r>
              <a:t>C</a:t>
            </a:r>
          </a:p>
        </p:txBody>
      </p:sp>
      <p:sp>
        <p:nvSpPr>
          <p:cNvPr id="24" name="Oval 23"/>
          <p:cNvSpPr/>
          <p:nvPr/>
        </p:nvSpPr>
        <p:spPr>
          <a:xfrm>
            <a:off x="4818888" y="2633472"/>
            <a:ext cx="329184" cy="329184"/>
          </a:xfrm>
          <a:prstGeom prst="ellipse">
            <a:avLst/>
          </a:prstGeom>
          <a:solidFill>
            <a:srgbClr val="172033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8FAFC"/>
                </a:solidFill>
              </a:defRPr>
            </a:pPr>
            <a:r>
              <a:t>D</a:t>
            </a:r>
          </a:p>
        </p:txBody>
      </p:sp>
      <p:sp>
        <p:nvSpPr>
          <p:cNvPr id="25" name="Oval 24"/>
          <p:cNvSpPr/>
          <p:nvPr/>
        </p:nvSpPr>
        <p:spPr>
          <a:xfrm>
            <a:off x="5184648" y="2633472"/>
            <a:ext cx="329184" cy="329184"/>
          </a:xfrm>
          <a:prstGeom prst="ellipse">
            <a:avLst/>
          </a:prstGeom>
          <a:solidFill>
            <a:srgbClr val="172033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8FAFC"/>
                </a:solidFill>
              </a:defRPr>
            </a:pPr>
            <a:r>
              <a:t>E</a:t>
            </a:r>
          </a:p>
        </p:txBody>
      </p:sp>
      <p:sp>
        <p:nvSpPr>
          <p:cNvPr id="26" name="Oval 25"/>
          <p:cNvSpPr/>
          <p:nvPr/>
        </p:nvSpPr>
        <p:spPr>
          <a:xfrm>
            <a:off x="5184648" y="3081528"/>
            <a:ext cx="329184" cy="329184"/>
          </a:xfrm>
          <a:prstGeom prst="ellipse">
            <a:avLst/>
          </a:prstGeom>
          <a:solidFill>
            <a:srgbClr val="172033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8FAFC"/>
                </a:solidFill>
              </a:defRPr>
            </a:pPr>
            <a:r>
              <a:t>F</a:t>
            </a:r>
          </a:p>
        </p:txBody>
      </p:sp>
      <p:sp>
        <p:nvSpPr>
          <p:cNvPr id="27" name="Oval 26"/>
          <p:cNvSpPr/>
          <p:nvPr/>
        </p:nvSpPr>
        <p:spPr>
          <a:xfrm>
            <a:off x="5870448" y="2075688"/>
            <a:ext cx="329184" cy="329184"/>
          </a:xfrm>
          <a:prstGeom prst="ellipse">
            <a:avLst/>
          </a:prstGeom>
          <a:solidFill>
            <a:srgbClr val="172033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8FAFC"/>
                </a:solidFill>
              </a:defRPr>
            </a:pPr>
            <a:r>
              <a:t>G</a:t>
            </a:r>
          </a:p>
        </p:txBody>
      </p:sp>
      <p:sp>
        <p:nvSpPr>
          <p:cNvPr id="28" name="Oval 27"/>
          <p:cNvSpPr/>
          <p:nvPr/>
        </p:nvSpPr>
        <p:spPr>
          <a:xfrm>
            <a:off x="5321808" y="2075688"/>
            <a:ext cx="329184" cy="329184"/>
          </a:xfrm>
          <a:prstGeom prst="ellipse">
            <a:avLst/>
          </a:prstGeom>
          <a:solidFill>
            <a:srgbClr val="172033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8FAFC"/>
                </a:solidFill>
              </a:defRPr>
            </a:pPr>
            <a:r>
              <a:t>H</a:t>
            </a:r>
          </a:p>
        </p:txBody>
      </p:sp>
      <p:sp>
        <p:nvSpPr>
          <p:cNvPr id="29" name="Oval 28"/>
          <p:cNvSpPr/>
          <p:nvPr/>
        </p:nvSpPr>
        <p:spPr>
          <a:xfrm>
            <a:off x="6419088" y="2075688"/>
            <a:ext cx="329184" cy="329184"/>
          </a:xfrm>
          <a:prstGeom prst="ellipse">
            <a:avLst/>
          </a:prstGeom>
          <a:solidFill>
            <a:srgbClr val="13251F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BBF7D0"/>
                </a:solidFill>
              </a:defRPr>
            </a:pPr>
            <a:r>
              <a:t>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97880" y="1444752"/>
            <a:ext cx="1298448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850" b="0">
                <a:solidFill>
                  <a:srgbClr val="94A3B8"/>
                </a:solidFill>
              </a:defRPr>
            </a:pPr>
            <a:r>
              <a:t>first page gathers B-I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82127" y="914400"/>
            <a:ext cx="3977639" cy="2606040"/>
          </a:xfrm>
          <a:prstGeom prst="roundRect">
            <a:avLst/>
          </a:prstGeom>
          <a:solidFill>
            <a:srgbClr val="101826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83296" y="1042415"/>
            <a:ext cx="3566160" cy="201168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ctr">
              <a:defRPr sz="1250" b="1">
                <a:solidFill>
                  <a:srgbClr val="F8FAFC"/>
                </a:solidFill>
              </a:defRPr>
            </a:pPr>
            <a:r>
              <a:t>What total time is made of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6448" y="1481328"/>
            <a:ext cx="804672" cy="713232"/>
          </a:xfrm>
          <a:prstGeom prst="roundRect">
            <a:avLst/>
          </a:prstGeom>
          <a:solidFill>
            <a:srgbClr val="172033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93024" y="1572768"/>
            <a:ext cx="731520" cy="18288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ctr">
              <a:defRPr sz="830" b="1">
                <a:solidFill>
                  <a:srgbClr val="38BDF8"/>
                </a:solidFill>
              </a:defRPr>
            </a:pPr>
            <a:r>
              <a:t>first gather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93024" y="1828800"/>
            <a:ext cx="731520" cy="22860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ctr">
              <a:defRPr sz="680" b="0">
                <a:solidFill>
                  <a:srgbClr val="CBD5E1"/>
                </a:solidFill>
              </a:defRPr>
            </a:pPr>
            <a:r>
              <a:t>B-I over Wi-Fi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70264" y="1709928"/>
            <a:ext cx="146304" cy="201168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ctr">
              <a:defRPr sz="1200" b="1">
                <a:solidFill>
                  <a:srgbClr val="94A3B8"/>
                </a:solidFill>
              </a:defRPr>
            </a:pPr>
            <a:r>
              <a:t>+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70848" y="1481328"/>
            <a:ext cx="804672" cy="713232"/>
          </a:xfrm>
          <a:prstGeom prst="roundRect">
            <a:avLst/>
          </a:prstGeom>
          <a:solidFill>
            <a:srgbClr val="172033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572768"/>
            <a:ext cx="731520" cy="18288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ctr">
              <a:defRPr sz="830" b="1">
                <a:solidFill>
                  <a:srgbClr val="34D399"/>
                </a:solidFill>
              </a:defRPr>
            </a:pPr>
            <a:r>
              <a:t>A cache/build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1828800"/>
            <a:ext cx="731520" cy="22860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ctr">
              <a:defRPr sz="680" b="0">
                <a:solidFill>
                  <a:srgbClr val="CBD5E1"/>
                </a:solidFill>
              </a:defRPr>
            </a:pPr>
            <a:r>
              <a:t>assemble 1.6 MB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84664" y="1709928"/>
            <a:ext cx="146304" cy="201168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ctr">
              <a:defRPr sz="1200" b="1">
                <a:solidFill>
                  <a:srgbClr val="94A3B8"/>
                </a:solidFill>
              </a:defRPr>
            </a:pPr>
            <a:r>
              <a:t>+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85248" y="1481328"/>
            <a:ext cx="804672" cy="713232"/>
          </a:xfrm>
          <a:prstGeom prst="roundRect">
            <a:avLst/>
          </a:prstGeom>
          <a:solidFill>
            <a:srgbClr val="172033"/>
          </a:solidFill>
          <a:ln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21824" y="1572768"/>
            <a:ext cx="731520" cy="18288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ctr">
              <a:defRPr sz="830" b="1">
                <a:solidFill>
                  <a:srgbClr val="FACC15"/>
                </a:solidFill>
              </a:defRPr>
            </a:pPr>
            <a:r>
              <a:t>page overhead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21824" y="1828800"/>
            <a:ext cx="731520" cy="22860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ctr">
              <a:defRPr sz="680" b="0">
                <a:solidFill>
                  <a:srgbClr val="CBD5E1"/>
                </a:solidFill>
              </a:defRPr>
            </a:pPr>
            <a:r>
              <a:t>N QueryOnce calls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99064" y="1709928"/>
            <a:ext cx="146304" cy="201168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ctr">
              <a:defRPr sz="1200" b="1">
                <a:solidFill>
                  <a:srgbClr val="94A3B8"/>
                </a:solidFill>
              </a:defRPr>
            </a:pPr>
            <a:r>
              <a:t>+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899648" y="1481328"/>
            <a:ext cx="804672" cy="713232"/>
          </a:xfrm>
          <a:prstGeom prst="roundRect">
            <a:avLst/>
          </a:prstGeom>
          <a:solidFill>
            <a:srgbClr val="172033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36224" y="1572768"/>
            <a:ext cx="731520" cy="18288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ctr">
              <a:defRPr sz="830" b="1">
                <a:solidFill>
                  <a:srgbClr val="A78BFA"/>
                </a:solidFill>
              </a:defRPr>
            </a:pPr>
            <a:r>
              <a:t>payload work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36224" y="1828800"/>
            <a:ext cx="731520" cy="22860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ctr">
              <a:defRPr sz="680" b="0">
                <a:solidFill>
                  <a:srgbClr val="CBD5E1"/>
                </a:solidFill>
              </a:defRPr>
            </a:pPr>
            <a:r>
              <a:t>protobuf + copies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83879" y="2395728"/>
            <a:ext cx="3429000" cy="566928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ctr">
              <a:defRPr sz="819" b="0">
                <a:solidFill>
                  <a:srgbClr val="CBD5E1"/>
                </a:solidFill>
              </a:defRPr>
            </a:pPr>
            <a:r>
              <a:t>Tiny chunks reduce payload per page, but multiply the page overhead. Large chunks cut page count, but each page carries more data and has worse tail risk.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0040" y="3749039"/>
            <a:ext cx="4160520" cy="2331720"/>
          </a:xfrm>
          <a:prstGeom prst="roundRect">
            <a:avLst/>
          </a:prstGeom>
          <a:solidFill>
            <a:srgbClr val="11182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3877056"/>
            <a:ext cx="3703320" cy="22860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F8FAFC"/>
                </a:solidFill>
              </a:defRPr>
            </a:pPr>
            <a:r>
              <a:t>Paging overhead adds up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0352" y="4315968"/>
            <a:ext cx="566928" cy="18288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19" b="1">
                <a:solidFill>
                  <a:srgbClr val="FB7185"/>
                </a:solidFill>
              </a:defRPr>
            </a:pPr>
            <a:r>
              <a:t>2 KB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" y="4315968"/>
            <a:ext cx="658368" cy="18288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830" b="0">
                <a:solidFill>
                  <a:srgbClr val="CBD5E1"/>
                </a:solidFill>
              </a:defRPr>
            </a:pPr>
            <a:r>
              <a:t>800 pages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55648" y="4334256"/>
            <a:ext cx="64008" cy="155448"/>
          </a:xfrm>
          <a:prstGeom prst="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851660" y="4334256"/>
            <a:ext cx="64008" cy="155448"/>
          </a:xfrm>
          <a:prstGeom prst="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947672" y="4334256"/>
            <a:ext cx="64008" cy="155448"/>
          </a:xfrm>
          <a:prstGeom prst="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043684" y="4334256"/>
            <a:ext cx="64008" cy="155448"/>
          </a:xfrm>
          <a:prstGeom prst="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139696" y="4334256"/>
            <a:ext cx="64008" cy="155448"/>
          </a:xfrm>
          <a:prstGeom prst="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235708" y="4334256"/>
            <a:ext cx="64008" cy="155448"/>
          </a:xfrm>
          <a:prstGeom prst="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331720" y="4334256"/>
            <a:ext cx="64008" cy="155448"/>
          </a:xfrm>
          <a:prstGeom prst="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427732" y="4334256"/>
            <a:ext cx="64008" cy="155448"/>
          </a:xfrm>
          <a:prstGeom prst="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523744" y="4334256"/>
            <a:ext cx="64008" cy="155448"/>
          </a:xfrm>
          <a:prstGeom prst="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619756" y="4334256"/>
            <a:ext cx="64008" cy="155448"/>
          </a:xfrm>
          <a:prstGeom prst="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715768" y="4334256"/>
            <a:ext cx="64008" cy="155448"/>
          </a:xfrm>
          <a:prstGeom prst="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811780" y="4334256"/>
            <a:ext cx="64008" cy="155448"/>
          </a:xfrm>
          <a:prstGeom prst="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907791" y="4334256"/>
            <a:ext cx="64008" cy="155448"/>
          </a:xfrm>
          <a:prstGeom prst="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003804" y="4334256"/>
            <a:ext cx="64008" cy="155448"/>
          </a:xfrm>
          <a:prstGeom prst="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099815" y="4334256"/>
            <a:ext cx="64008" cy="155448"/>
          </a:xfrm>
          <a:prstGeom prst="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195828" y="4334256"/>
            <a:ext cx="64008" cy="155448"/>
          </a:xfrm>
          <a:prstGeom prst="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54680" y="4315968"/>
            <a:ext cx="1078992" cy="22860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740" b="0">
                <a:solidFill>
                  <a:srgbClr val="94A3B8"/>
                </a:solidFill>
              </a:defRPr>
            </a:pPr>
            <a:r>
              <a:t>~0.42 ms/page, but 800x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0352" y="4818888"/>
            <a:ext cx="566928" cy="18288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19" b="1">
                <a:solidFill>
                  <a:srgbClr val="38BDF8"/>
                </a:solidFill>
              </a:defRPr>
            </a:pPr>
            <a:r>
              <a:t>32 KB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" y="4818888"/>
            <a:ext cx="658368" cy="18288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830" b="0">
                <a:solidFill>
                  <a:srgbClr val="CBD5E1"/>
                </a:solidFill>
              </a:defRPr>
            </a:pPr>
            <a:r>
              <a:t>50 pages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755648" y="4837176"/>
            <a:ext cx="64008" cy="155448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851660" y="4837176"/>
            <a:ext cx="64008" cy="155448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947672" y="4837176"/>
            <a:ext cx="64008" cy="155448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043684" y="4837176"/>
            <a:ext cx="64008" cy="155448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139696" y="4837176"/>
            <a:ext cx="64008" cy="155448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35708" y="4837176"/>
            <a:ext cx="64008" cy="155448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331720" y="4837176"/>
            <a:ext cx="64008" cy="155448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427732" y="4837176"/>
            <a:ext cx="64008" cy="155448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523744" y="4837176"/>
            <a:ext cx="64008" cy="155448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619756" y="4837176"/>
            <a:ext cx="64008" cy="155448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154680" y="4818888"/>
            <a:ext cx="1078992" cy="22860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740" b="0">
                <a:solidFill>
                  <a:srgbClr val="94A3B8"/>
                </a:solidFill>
              </a:defRPr>
            </a:pPr>
            <a:r>
              <a:t>~0.91 ms/page, knee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0352" y="5321808"/>
            <a:ext cx="566928" cy="18288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19" b="1">
                <a:solidFill>
                  <a:srgbClr val="A78BFA"/>
                </a:solidFill>
              </a:defRPr>
            </a:pPr>
            <a:r>
              <a:t>512 KB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51560" y="5321808"/>
            <a:ext cx="658368" cy="18288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830" b="0">
                <a:solidFill>
                  <a:srgbClr val="CBD5E1"/>
                </a:solidFill>
              </a:defRPr>
            </a:pPr>
            <a:r>
              <a:t>4 pages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755648" y="5340096"/>
            <a:ext cx="64008" cy="155448"/>
          </a:xfrm>
          <a:prstGeom prst="rect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851660" y="5340096"/>
            <a:ext cx="64008" cy="155448"/>
          </a:xfrm>
          <a:prstGeom prst="rect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947672" y="5340096"/>
            <a:ext cx="64008" cy="155448"/>
          </a:xfrm>
          <a:prstGeom prst="rect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043684" y="5340096"/>
            <a:ext cx="64008" cy="155448"/>
          </a:xfrm>
          <a:prstGeom prst="rect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154680" y="5321808"/>
            <a:ext cx="1078992" cy="22860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740" b="0">
                <a:solidFill>
                  <a:srgbClr val="94A3B8"/>
                </a:solidFill>
              </a:defRPr>
            </a:pPr>
            <a:r>
              <a:t>~11 ms/page, few but bigger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30352" y="5715000"/>
            <a:ext cx="3703320" cy="201168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ctr">
              <a:defRPr sz="869" b="1">
                <a:solidFill>
                  <a:srgbClr val="FACC15"/>
                </a:solidFill>
              </a:defRPr>
            </a:pPr>
            <a:r>
              <a:t>Total is all pages combined, not one chunk response.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709160" y="3749039"/>
            <a:ext cx="2788920" cy="2331720"/>
          </a:xfrm>
          <a:prstGeom prst="round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892040" y="3877056"/>
            <a:ext cx="2423160" cy="22860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ctr">
              <a:defRPr sz="1250" b="1">
                <a:solidFill>
                  <a:srgbClr val="F8FAFC"/>
                </a:solidFill>
              </a:defRPr>
            </a:pPr>
            <a:r>
              <a:t>Fairness at 32 KB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956048" y="4315968"/>
            <a:ext cx="438912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780" b="0">
                <a:solidFill>
                  <a:srgbClr val="CBD5E1"/>
                </a:solidFill>
              </a:defRPr>
            </a:pPr>
            <a:r>
              <a:t>cli1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22392" y="4398264"/>
            <a:ext cx="594360" cy="0"/>
          </a:xfrm>
          <a:prstGeom prst="line">
            <a:avLst/>
          </a:prstGeom>
          <a:ln w="127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4956048" y="4626864"/>
            <a:ext cx="438912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780" b="0">
                <a:solidFill>
                  <a:srgbClr val="CBD5E1"/>
                </a:solidFill>
              </a:defRPr>
            </a:pPr>
            <a:r>
              <a:t>cli2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5422392" y="4709160"/>
            <a:ext cx="594360" cy="0"/>
          </a:xfrm>
          <a:prstGeom prst="line">
            <a:avLst/>
          </a:prstGeom>
          <a:ln w="127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4956048" y="4937759"/>
            <a:ext cx="438912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780" b="0">
                <a:solidFill>
                  <a:srgbClr val="CBD5E1"/>
                </a:solidFill>
              </a:defRPr>
            </a:pPr>
            <a:r>
              <a:t>cli3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5422392" y="5020055"/>
            <a:ext cx="594360" cy="0"/>
          </a:xfrm>
          <a:prstGeom prst="line">
            <a:avLst/>
          </a:prstGeom>
          <a:ln w="127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4956048" y="5248656"/>
            <a:ext cx="438912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780" b="0">
                <a:solidFill>
                  <a:srgbClr val="CBD5E1"/>
                </a:solidFill>
              </a:defRPr>
            </a:pPr>
            <a:r>
              <a:t>cli4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5422392" y="5330952"/>
            <a:ext cx="594360" cy="0"/>
          </a:xfrm>
          <a:prstGeom prst="line">
            <a:avLst/>
          </a:prstGeom>
          <a:ln w="127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/>
          <p:cNvSpPr/>
          <p:nvPr/>
        </p:nvSpPr>
        <p:spPr>
          <a:xfrm>
            <a:off x="6080760" y="4370832"/>
            <a:ext cx="658368" cy="658368"/>
          </a:xfrm>
          <a:prstGeom prst="roundRect">
            <a:avLst/>
          </a:prstGeom>
          <a:solidFill>
            <a:srgbClr val="172033"/>
          </a:solidFill>
          <a:ln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144768" y="4553712"/>
            <a:ext cx="530352" cy="201168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ctr">
              <a:defRPr sz="800" b="1">
                <a:solidFill>
                  <a:srgbClr val="FACC15"/>
                </a:solidFill>
              </a:defRPr>
            </a:pPr>
            <a:r>
              <a:t>A queue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983480" y="5349240"/>
            <a:ext cx="2148840" cy="41148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ctr">
              <a:defRPr sz="900" b="0">
                <a:solidFill>
                  <a:srgbClr val="CBD5E1"/>
                </a:solidFill>
              </a:defRPr>
            </a:pPr>
            <a:r>
              <a:t>each client: 50 chunks</a:t>
            </a:r>
            <a:br/>
            <a:r>
              <a:t>116.8-121.8 ms, 4.3% spread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7726679" y="3749039"/>
            <a:ext cx="4133087" cy="2331720"/>
          </a:xfrm>
          <a:prstGeom prst="roundRect">
            <a:avLst/>
          </a:prstGeom>
          <a:solidFill>
            <a:srgbClr val="172033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973568" y="3858768"/>
            <a:ext cx="1143000" cy="45720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3200" b="1">
                <a:solidFill>
                  <a:srgbClr val="FACC15"/>
                </a:solidFill>
              </a:defRPr>
            </a:pPr>
            <a:r>
              <a:t>7.7x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070848" y="3950208"/>
            <a:ext cx="2331720" cy="32004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338 ms -&gt; 44 ms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973568" y="4462272"/>
            <a:ext cx="347472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00" b="0">
                <a:solidFill>
                  <a:srgbClr val="94A3B8"/>
                </a:solidFill>
              </a:defRPr>
            </a:pPr>
            <a:r>
              <a:t>2 KB to 512 KB total mean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8001000" y="4864608"/>
            <a:ext cx="1444752" cy="658368"/>
          </a:xfrm>
          <a:prstGeom prst="roundRect">
            <a:avLst/>
          </a:prstGeom>
          <a:solidFill>
            <a:srgbClr val="101826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9646920" y="4864608"/>
            <a:ext cx="1444752" cy="658368"/>
          </a:xfrm>
          <a:prstGeom prst="roundRect">
            <a:avLst/>
          </a:prstGeom>
          <a:solidFill>
            <a:srgbClr val="101826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101583" y="4983480"/>
            <a:ext cx="123444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32 KB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101583" y="5193792"/>
            <a:ext cx="123444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ctr">
              <a:defRPr sz="780" b="0">
                <a:solidFill>
                  <a:srgbClr val="DBEAFE"/>
                </a:solidFill>
              </a:defRPr>
            </a:pPr>
            <a:r>
              <a:t>45.7 ms / P90 61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747504" y="4983480"/>
            <a:ext cx="123444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ctr">
              <a:defRPr sz="1100" b="1">
                <a:solidFill>
                  <a:srgbClr val="A78BFA"/>
                </a:solidFill>
              </a:defRPr>
            </a:pPr>
            <a:r>
              <a:t>512 KB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747504" y="5193792"/>
            <a:ext cx="123444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ctr">
              <a:defRPr sz="780" b="0">
                <a:solidFill>
                  <a:srgbClr val="EDE9FE"/>
                </a:solidFill>
              </a:defRPr>
            </a:pPr>
            <a:r>
              <a:t>44.0 ms / P90 110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65008" y="5687568"/>
            <a:ext cx="3429000" cy="201168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ctr">
              <a:defRPr sz="880" b="1">
                <a:solidFill>
                  <a:srgbClr val="FACC15"/>
                </a:solidFill>
              </a:defRPr>
            </a:pPr>
            <a:r>
              <a:t>Why same? At 32 KB, most page-count cost is already gone.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11480" y="6272784"/>
            <a:ext cx="1138428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ctr">
              <a:defRPr sz="1200" b="1">
                <a:solidFill>
                  <a:srgbClr val="E2E8F0"/>
                </a:solidFill>
              </a:defRPr>
            </a:pPr>
            <a:r>
              <a:t>Takeaway: first page gathers/cache-builds once; chunk size mainly controls how many later client-to-A page costs are repeated.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