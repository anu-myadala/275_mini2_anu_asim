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4160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ACC15"/>
                </a:solidFill>
              </a:defRPr>
            </a:pPr>
            <a:r>
              <a:t>THE 32 KB KNEE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17720" y="320040"/>
            <a:ext cx="6217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Repeated pages dominated until the gather/cache floor took 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61320" y="320040"/>
            <a:ext cx="1143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0">
                <a:solidFill>
                  <a:srgbClr val="94A3B8"/>
                </a:solidFill>
              </a:defRPr>
            </a:pPr>
            <a:r>
              <a:t>Anukrithi + Asim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45152" y="713232"/>
            <a:ext cx="60350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0">
                <a:solidFill>
                  <a:srgbClr val="94A3B8"/>
                </a:solidFill>
              </a:defRPr>
            </a:pPr>
            <a:r>
              <a:t>NYC 311 2020-present | 80k returned rows | 20-byte records | A-F host1, G/H/I host2 | 30 runs/size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6995160" cy="4983480"/>
          </a:xfrm>
          <a:prstGeom prst="roundRect">
            <a:avLst/>
          </a:prstGeom>
          <a:solidFill>
            <a:srgbClr val="11182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oster_chunk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207008"/>
            <a:ext cx="6510528" cy="4297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808" y="5440680"/>
            <a:ext cx="6309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CBD5E1"/>
                </a:solidFill>
              </a:defRPr>
            </a:pPr>
            <a:r>
              <a:t>30 runs per chunk size on two laptops over Wi-Fi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5669280"/>
            <a:ext cx="6309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80" b="0">
                <a:solidFill>
                  <a:srgbClr val="94A3B8"/>
                </a:solidFill>
              </a:defRPr>
            </a:pPr>
            <a:r>
              <a:t>keywords: page count | gather/cache floor | P90 tail | opportunity fairness | fail-fast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960120"/>
            <a:ext cx="4160520" cy="1325880"/>
          </a:xfrm>
          <a:prstGeom prst="roundRect">
            <a:avLst/>
          </a:prstGeom>
          <a:solidFill>
            <a:srgbClr val="172033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097280"/>
            <a:ext cx="1600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ACC15"/>
                </a:solidFill>
              </a:defRPr>
            </a:pPr>
            <a:r>
              <a:t>7.7x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64040" y="1143000"/>
            <a:ext cx="19659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faster total 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1517904"/>
            <a:ext cx="19659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8BDF8"/>
                </a:solidFill>
              </a:defRPr>
            </a:pPr>
            <a:r>
              <a:t>338 ms -&gt; 44 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1938528"/>
            <a:ext cx="3611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94A3B8"/>
                </a:solidFill>
              </a:defRPr>
            </a:pPr>
            <a:r>
              <a:t>mean improvement from 2 KB to 512 KB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35240" y="2514600"/>
            <a:ext cx="4160520" cy="914400"/>
          </a:xfrm>
          <a:prstGeom prst="roundRect">
            <a:avLst/>
          </a:prstGeom>
          <a:solidFill>
            <a:srgbClr val="101826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82127" y="2651760"/>
            <a:ext cx="3611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8FAFC"/>
                </a:solidFill>
              </a:defRPr>
            </a:pPr>
            <a:r>
              <a:t>Why 50 pages ~= 4 pages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2953512"/>
            <a:ext cx="1143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300" b="1">
                <a:solidFill>
                  <a:srgbClr val="38BDF8"/>
                </a:solidFill>
              </a:defRPr>
            </a:pPr>
            <a:r>
              <a:t>45.7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34272" y="3008376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</a:defRPr>
            </a:pPr>
            <a:r>
              <a:t>vs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953512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300" b="1">
                <a:solidFill>
                  <a:srgbClr val="A78BFA"/>
                </a:solidFill>
              </a:defRPr>
            </a:pPr>
            <a:r>
              <a:t>44.0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61320" y="3035808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0">
                <a:solidFill>
                  <a:srgbClr val="CBD5E1"/>
                </a:solidFill>
              </a:defRPr>
            </a:pPr>
            <a:r>
              <a:t>ms mean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35240" y="3703320"/>
            <a:ext cx="4160520" cy="1508760"/>
          </a:xfrm>
          <a:prstGeom prst="roundRect">
            <a:avLst/>
          </a:prstGeom>
          <a:solidFill>
            <a:srgbClr val="11182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9560" y="3840480"/>
            <a:ext cx="3611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8FAFC"/>
                </a:solidFill>
              </a:defRPr>
            </a:pPr>
            <a:r>
              <a:t>The tradeoff after the knee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36992" y="4224528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38BDF8"/>
                </a:solidFill>
              </a:defRPr>
            </a:pPr>
            <a:r>
              <a:t>32 KB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4224528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A78BFA"/>
                </a:solidFill>
              </a:defRPr>
            </a:pPr>
            <a:r>
              <a:t>512 KB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31552" y="4224528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CBD5E1"/>
                </a:solidFill>
              </a:defRPr>
            </a:pPr>
            <a:r>
              <a:t>meaning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27848" y="4572000"/>
            <a:ext cx="10058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DBEAFE"/>
                </a:solidFill>
              </a:defRPr>
            </a:pPr>
            <a:r>
              <a:t>P90 61 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40" y="4572000"/>
            <a:ext cx="10058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EDE9FE"/>
                </a:solidFill>
              </a:defRPr>
            </a:pPr>
            <a:r>
              <a:t>P90 110 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94976" y="4535424"/>
            <a:ext cx="118872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69" b="0">
                <a:solidFill>
                  <a:srgbClr val="CBD5E1"/>
                </a:solidFill>
              </a:defRPr>
            </a:pPr>
            <a:r>
              <a:t>larger chunks were faster typically, but spikier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5468112"/>
            <a:ext cx="1965960" cy="685800"/>
          </a:xfrm>
          <a:prstGeom prst="roundRect">
            <a:avLst/>
          </a:prstGeom>
          <a:solidFill>
            <a:srgbClr val="13251F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18120" y="5577840"/>
            <a:ext cx="1600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BBF7D0"/>
                </a:solidFill>
              </a:defRPr>
            </a:pPr>
            <a:r>
              <a:t>Robust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8120" y="5815584"/>
            <a:ext cx="1600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80" b="0">
                <a:solidFill>
                  <a:srgbClr val="DCFCE7"/>
                </a:solidFill>
              </a:defRPr>
            </a:pPr>
            <a:r>
              <a:t>32 KB: near-fastest mean, lower tail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829800" y="5468112"/>
            <a:ext cx="1965960" cy="685800"/>
          </a:xfrm>
          <a:prstGeom prst="roundRect">
            <a:avLst/>
          </a:prstGeom>
          <a:solidFill>
            <a:srgbClr val="2A1B13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12680" y="5577840"/>
            <a:ext cx="1600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DE68A"/>
                </a:solidFill>
              </a:defRPr>
            </a:pPr>
            <a:r>
              <a:t>Validated first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12680" y="5815584"/>
            <a:ext cx="1600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0">
                <a:solidFill>
                  <a:srgbClr val="FFEDD5"/>
                </a:solidFill>
              </a:defRPr>
            </a:pPr>
            <a:r>
              <a:t>ports, tree, cache, cap, layout, shards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263640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</a:defRPr>
            </a:pPr>
            <a:r>
              <a:t>Takeaway: chunk size shifts cost from repeated paging to a fixed gather/transfer floor; 32 KB is the knee for this setup.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