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5253"/>
    <p:restoredTop sz="96301"/>
  </p:normalViewPr>
  <p:slideViewPr>
    <p:cSldViewPr snapToGrid="0" snapToObjects="1">
      <p:cViewPr>
        <p:scale>
          <a:sx n="170" d="100"/>
          <a:sy n="170" d="100"/>
        </p:scale>
        <p:origin x="-344" y="168"/>
      </p:cViewPr>
      <p:guideLst>
        <p:guide orient="horz" pos="2160"/>
        <p:guide pos="2880"/>
      </p:guideLst>
    </p:cSldViewPr>
  </p:slideViewPr>
  <p:notesTextViewPr>
    <p:cViewPr>
      <p:scale>
        <a:sx n="100" d="100"/>
        <a:sy n="100" d="100"/>
      </p:scale>
      <p:origin x="0" y="-1856"/>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27049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Anu: For our mini 2, </a:t>
            </a:r>
            <a:r>
              <a:rPr dirty="0"/>
              <a:t>We used NYC 311 service requests, c</a:t>
            </a:r>
            <a:r>
              <a:rPr lang="en-US" dirty="0"/>
              <a:t>onverted a 80,000 row subset into compact 20-byte typed binary records, and returned 80,000 of those records through a nine-node </a:t>
            </a:r>
            <a:r>
              <a:rPr lang="en-US" dirty="0" err="1"/>
              <a:t>gRPC</a:t>
            </a:r>
            <a:r>
              <a:rPr lang="en-US" dirty="0"/>
              <a:t> tree spread across two laptops on Wi-Fi. A through F on one machine, G, H, and our Python node I on the other. The only variable we changed across runs was chunk size. Everything else stayed the same — same data, same tree, same two laptops, 30 runs per chunk size.</a:t>
            </a:r>
          </a:p>
          <a:p>
            <a:endParaRPr lang="en-US" dirty="0"/>
          </a:p>
          <a:p>
            <a:r>
              <a:rPr lang="en-US" dirty="0"/>
              <a:t>At the extremes, the result looks obvious. 2 KB chunks averaged 338 </a:t>
            </a:r>
            <a:r>
              <a:rPr lang="en-US" dirty="0" err="1"/>
              <a:t>ms.</a:t>
            </a:r>
            <a:r>
              <a:rPr lang="en-US" dirty="0"/>
              <a:t> 512 KB chunks averaged 44 </a:t>
            </a:r>
            <a:r>
              <a:rPr lang="en-US" dirty="0" err="1"/>
              <a:t>ms.</a:t>
            </a:r>
            <a:r>
              <a:rPr lang="en-US" dirty="0"/>
              <a:t> 7.7x faster, bigger chunks win, done. But that's not the finding.</a:t>
            </a:r>
          </a:p>
          <a:p>
            <a:endParaRPr lang="en-US" dirty="0"/>
          </a:p>
          <a:p>
            <a:r>
              <a:rPr dirty="0"/>
              <a:t>the part we found more interesting is</a:t>
            </a:r>
            <a:r>
              <a:rPr lang="en-US" dirty="0"/>
              <a:t> what happens in the middle. At 32 KB, we needed 50 pages to return the full result. At 512 KB, we needed only 4. That's going from 50 round trips down to 4 — and the means are 45.7 versus 44.0 milliseconds. 1.7 </a:t>
            </a:r>
            <a:r>
              <a:rPr lang="en-US" dirty="0" err="1"/>
              <a:t>ms</a:t>
            </a:r>
            <a:r>
              <a:rPr lang="en-US" dirty="0"/>
              <a:t> apart. So cutting 46 pages out of the request barely moved the number at all, and that needs an explanation.</a:t>
            </a:r>
            <a:r>
              <a:rPr dirty="0"/>
              <a:t> </a:t>
            </a:r>
            <a:endParaRPr lang="en-US" dirty="0"/>
          </a:p>
          <a:p>
            <a:endParaRPr lang="en-US" dirty="0"/>
          </a:p>
          <a:p>
            <a:r>
              <a:rPr lang="en-US" dirty="0"/>
              <a:t>To understand it, you have to look at the tree. The client only ever talks to A — A is the sole public entry point and owns the scatter-gather fan-in.  On the very first page of any request, A fans out and gathers from B, H, G, and I, which recursively gather their own children. Once those payloads return, A assembles the full 1.6 MB result and caches it under that request ID. That first page is the only one that pays the distributed gather cost. Every page after that is just A slicing the cached payload and returning the next chunk — the tree doesn't get touched again.</a:t>
            </a:r>
          </a:p>
          <a:p>
            <a:endParaRPr dirty="0"/>
          </a:p>
          <a:p>
            <a:r>
              <a:rPr dirty="0"/>
              <a:t>That is why total time is not only bandwidth. The cost has four pieces: scatter-gather fan-in over Wi-Fi, cache materialization at A, amortized page cost for each </a:t>
            </a:r>
            <a:r>
              <a:rPr dirty="0" err="1"/>
              <a:t>QueryOnce</a:t>
            </a:r>
            <a:r>
              <a:rPr dirty="0"/>
              <a:t> call, and serialization/copy work for the </a:t>
            </a:r>
            <a:r>
              <a:rPr dirty="0" err="1"/>
              <a:t>protobuf</a:t>
            </a:r>
            <a:r>
              <a:rPr dirty="0"/>
              <a:t> bytes. </a:t>
            </a:r>
            <a:r>
              <a:rPr lang="en-US" dirty="0"/>
              <a:t>Small chunks help on page size but multiply the page count. </a:t>
            </a:r>
            <a:r>
              <a:rPr dirty="0"/>
              <a:t>Large chunks reduce the number of page calls, but each response is larger and the tail latency becomes more visible.</a:t>
            </a:r>
          </a:p>
          <a:p>
            <a:endParaRPr dirty="0"/>
          </a:p>
          <a:p>
            <a:r>
              <a:rPr lang="en-US" dirty="0"/>
              <a:t>Asim: </a:t>
            </a:r>
            <a:r>
              <a:rPr dirty="0"/>
              <a:t>The bottom-left diagram is there to avoid a common misunderstanding. The 338 </a:t>
            </a:r>
            <a:r>
              <a:rPr dirty="0" err="1"/>
              <a:t>ms</a:t>
            </a:r>
            <a:r>
              <a:rPr dirty="0"/>
              <a:t> at 2 KB is not one chunk response. It is all 800 page responses combined. Each 2 KB page is cheap, about 0.42 </a:t>
            </a:r>
            <a:r>
              <a:rPr dirty="0" err="1"/>
              <a:t>ms</a:t>
            </a:r>
            <a:r>
              <a:rPr dirty="0"/>
              <a:t> on average, but 800 cheap operations still add up. At 32 KB, the client only needs 50 pages, so most of the repeated paging overhead has already been amortized. </a:t>
            </a:r>
            <a:r>
              <a:rPr lang="en-US" sz="1200" b="0" i="1" kern="1200" dirty="0">
                <a:solidFill>
                  <a:schemeClr val="tx1"/>
                </a:solidFill>
                <a:effectLst/>
                <a:latin typeface="+mn-lt"/>
                <a:ea typeface="+mn-ea"/>
                <a:cs typeface="+mn-cs"/>
              </a:rPr>
              <a:t>So the total time is page count multiplied by per-page cost, plus the first gather/cache cost. </a:t>
            </a:r>
            <a:r>
              <a:rPr dirty="0"/>
              <a:t>Going from 50 pages down to 4 pages still helps a little, but now the fixed gather/cache floor and payload movement dominate. </a:t>
            </a:r>
            <a:r>
              <a:rPr lang="en-US" sz="1200" b="0" i="1" kern="1200" dirty="0">
                <a:solidFill>
                  <a:schemeClr val="tx1"/>
                </a:solidFill>
                <a:effectLst/>
                <a:latin typeface="+mn-lt"/>
                <a:ea typeface="+mn-ea"/>
                <a:cs typeface="+mn-cs"/>
              </a:rPr>
              <a:t>That is why 32 KB and 512 KB have almost the same mean even though 512 KB uses far fewer pages.</a:t>
            </a:r>
          </a:p>
          <a:p>
            <a:endParaRPr dirty="0"/>
          </a:p>
          <a:p>
            <a:r>
              <a:rPr dirty="0"/>
              <a:t>The fairness box shows why we did not just say 512 KB is the answer. At the 32 KB knee, four clients each got exactly 50 chunks through A's queue. Their finish times were not identical, but they were close: 116.8 to 121.8 </a:t>
            </a:r>
            <a:r>
              <a:rPr dirty="0" err="1"/>
              <a:t>ms</a:t>
            </a:r>
            <a:r>
              <a:rPr dirty="0"/>
              <a:t>, a 4.3 percent spread. So this is opportunity fairness. A gives clients equal turns, but network timing still creates slightly different wall-clock completion times.</a:t>
            </a:r>
            <a:r>
              <a:rPr lang="en-US" dirty="0"/>
              <a:t> 512 KB would make this worse: fewer, heavier pages mean one client's slow gather blocks the queue for longer.</a:t>
            </a:r>
          </a:p>
          <a:p>
            <a:endParaRPr dirty="0"/>
          </a:p>
          <a:p>
            <a:r>
              <a:rPr lang="en-US" dirty="0"/>
              <a:t>So the actual design decision here isn't just "which chunk size is fastest." It's: what are you optimizing for? If it's raw mean speed, 512 KB wins by about 1.7 </a:t>
            </a:r>
            <a:r>
              <a:rPr lang="en-US" dirty="0" err="1"/>
              <a:t>ms.</a:t>
            </a:r>
            <a:r>
              <a:rPr lang="en-US" dirty="0"/>
              <a:t> If it's robustness, tail behavior, and concurrent client fairness, 32 KB is the better operating point — it's already past most of the page-count penalty and it keeps tail risk manageable.</a:t>
            </a:r>
          </a:p>
          <a:p>
            <a:endParaRPr lang="en-US" dirty="0"/>
          </a:p>
          <a:p>
            <a:r>
              <a:rPr lang="en-US" dirty="0"/>
              <a:t>The takeaway at the bottom of the slide says it cleanly: the first page gathers and cache-builds once. Chunk size controls how many times you repeat the client-to-A page cost after that. Below 32 KB, repeated pages dominate. Above 32 KB, the fixed gather floor and tail variance dominate. The useful discovery isn't that bigger chunks are faster — it's where the bottleneck shifts and why.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2608" y="219456"/>
            <a:ext cx="3246120" cy="384048"/>
          </a:xfrm>
          <a:prstGeom prst="rect">
            <a:avLst/>
          </a:prstGeom>
          <a:noFill/>
        </p:spPr>
        <p:txBody>
          <a:bodyPr wrap="none" lIns="36576" tIns="18288" rIns="36576" bIns="18288">
            <a:spAutoFit/>
          </a:bodyPr>
          <a:lstStyle/>
          <a:p>
            <a:pPr>
              <a:defRPr sz="2800" b="1">
                <a:solidFill>
                  <a:srgbClr val="FACC15"/>
                </a:solidFill>
              </a:defRPr>
            </a:pPr>
            <a:r>
              <a:t>THE 32 KB KNEE</a:t>
            </a:r>
          </a:p>
        </p:txBody>
      </p:sp>
      <p:sp>
        <p:nvSpPr>
          <p:cNvPr id="4" name="TextBox 3"/>
          <p:cNvSpPr txBox="1"/>
          <p:nvPr/>
        </p:nvSpPr>
        <p:spPr>
          <a:xfrm>
            <a:off x="3639312" y="256032"/>
            <a:ext cx="4198329" cy="260071"/>
          </a:xfrm>
          <a:prstGeom prst="rect">
            <a:avLst/>
          </a:prstGeom>
          <a:noFill/>
        </p:spPr>
        <p:txBody>
          <a:bodyPr wrap="none" lIns="36576" tIns="18288" rIns="36576" bIns="18288">
            <a:spAutoFit/>
          </a:bodyPr>
          <a:lstStyle/>
          <a:p>
            <a:pPr>
              <a:defRPr sz="1450" b="1">
                <a:solidFill>
                  <a:srgbClr val="E2E8F0"/>
                </a:solidFill>
              </a:defRPr>
            </a:pPr>
            <a:r>
              <a:rPr dirty="0"/>
              <a:t>Why 50 pages at 32 KB almost tied 4 pages at 512 KB</a:t>
            </a:r>
            <a:r>
              <a:rPr lang="en-US" dirty="0"/>
              <a:t>?</a:t>
            </a:r>
            <a:endParaRPr dirty="0"/>
          </a:p>
        </p:txBody>
      </p:sp>
      <p:sp>
        <p:nvSpPr>
          <p:cNvPr id="5" name="TextBox 4"/>
          <p:cNvSpPr txBox="1"/>
          <p:nvPr/>
        </p:nvSpPr>
        <p:spPr>
          <a:xfrm>
            <a:off x="10444300" y="310896"/>
            <a:ext cx="1351460" cy="175433"/>
          </a:xfrm>
          <a:prstGeom prst="rect">
            <a:avLst/>
          </a:prstGeom>
          <a:noFill/>
        </p:spPr>
        <p:txBody>
          <a:bodyPr wrap="none" lIns="36576" tIns="18288" rIns="36576" bIns="18288">
            <a:spAutoFit/>
          </a:bodyPr>
          <a:lstStyle/>
          <a:p>
            <a:pPr algn="r">
              <a:defRPr sz="900" b="0">
                <a:solidFill>
                  <a:srgbClr val="94A3B8"/>
                </a:solidFill>
              </a:defRPr>
            </a:pPr>
            <a:r>
              <a:rPr lang="en-US" dirty="0"/>
              <a:t>CMPE 275 </a:t>
            </a:r>
            <a:r>
              <a:rPr dirty="0"/>
              <a:t>Anukrithi + Asim</a:t>
            </a:r>
          </a:p>
        </p:txBody>
      </p:sp>
      <p:sp>
        <p:nvSpPr>
          <p:cNvPr id="6" name="TextBox 5"/>
          <p:cNvSpPr txBox="1"/>
          <p:nvPr/>
        </p:nvSpPr>
        <p:spPr>
          <a:xfrm>
            <a:off x="3767328" y="621792"/>
            <a:ext cx="7498079" cy="201168"/>
          </a:xfrm>
          <a:prstGeom prst="rect">
            <a:avLst/>
          </a:prstGeom>
          <a:noFill/>
        </p:spPr>
        <p:txBody>
          <a:bodyPr wrap="none" lIns="36576" tIns="18288" rIns="36576" bIns="18288">
            <a:spAutoFit/>
          </a:bodyPr>
          <a:lstStyle/>
          <a:p>
            <a:pPr>
              <a:defRPr sz="880" b="0">
                <a:solidFill>
                  <a:srgbClr val="94A3B8"/>
                </a:solidFill>
              </a:defRPr>
            </a:pPr>
            <a:r>
              <a:rPr dirty="0"/>
              <a:t>NYC 311 2020-present | 80k returned rows | 20-byte records | A-F host1, G/H/I host2 | 30 runs/chunk</a:t>
            </a:r>
          </a:p>
        </p:txBody>
      </p:sp>
      <p:sp>
        <p:nvSpPr>
          <p:cNvPr id="7" name="Rounded Rectangle 6"/>
          <p:cNvSpPr/>
          <p:nvPr/>
        </p:nvSpPr>
        <p:spPr>
          <a:xfrm>
            <a:off x="176981" y="896112"/>
            <a:ext cx="4870507" cy="3200400"/>
          </a:xfrm>
          <a:prstGeom prst="roundRect">
            <a:avLst/>
          </a:prstGeom>
          <a:solidFill>
            <a:srgbClr val="111827"/>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poster_chunk_chart.png"/>
          <p:cNvPicPr>
            <a:picLocks noChangeAspect="1"/>
          </p:cNvPicPr>
          <p:nvPr/>
        </p:nvPicPr>
        <p:blipFill>
          <a:blip r:embed="rId3"/>
          <a:stretch>
            <a:fillRect/>
          </a:stretch>
        </p:blipFill>
        <p:spPr>
          <a:xfrm>
            <a:off x="438912" y="1069848"/>
            <a:ext cx="4462272" cy="2816352"/>
          </a:xfrm>
          <a:prstGeom prst="rect">
            <a:avLst/>
          </a:prstGeom>
        </p:spPr>
      </p:pic>
      <p:sp>
        <p:nvSpPr>
          <p:cNvPr id="9" name="Rounded Rectangle 8"/>
          <p:cNvSpPr/>
          <p:nvPr/>
        </p:nvSpPr>
        <p:spPr>
          <a:xfrm>
            <a:off x="5230368" y="896112"/>
            <a:ext cx="2971800" cy="3200400"/>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13248" y="1024128"/>
            <a:ext cx="2606040" cy="219456"/>
          </a:xfrm>
          <a:prstGeom prst="rect">
            <a:avLst/>
          </a:prstGeom>
          <a:noFill/>
        </p:spPr>
        <p:txBody>
          <a:bodyPr wrap="none" lIns="36576" tIns="18288" rIns="36576" bIns="18288">
            <a:spAutoFit/>
          </a:bodyPr>
          <a:lstStyle/>
          <a:p>
            <a:pPr algn="ctr">
              <a:defRPr sz="1250" b="1">
                <a:solidFill>
                  <a:srgbClr val="F8FAFC"/>
                </a:solidFill>
              </a:defRPr>
            </a:pPr>
            <a:r>
              <a:t>Scatter-gather fan-in</a:t>
            </a:r>
          </a:p>
        </p:txBody>
      </p:sp>
      <p:sp>
        <p:nvSpPr>
          <p:cNvPr id="11" name="TextBox 10"/>
          <p:cNvSpPr txBox="1"/>
          <p:nvPr/>
        </p:nvSpPr>
        <p:spPr>
          <a:xfrm>
            <a:off x="5504688" y="1261872"/>
            <a:ext cx="2423160" cy="182880"/>
          </a:xfrm>
          <a:prstGeom prst="rect">
            <a:avLst/>
          </a:prstGeom>
          <a:noFill/>
        </p:spPr>
        <p:txBody>
          <a:bodyPr wrap="none" lIns="36576" tIns="18288" rIns="36576" bIns="18288">
            <a:spAutoFit/>
          </a:bodyPr>
          <a:lstStyle/>
          <a:p>
            <a:pPr algn="ctr">
              <a:defRPr sz="919" b="1">
                <a:solidFill>
                  <a:srgbClr val="38BDF8"/>
                </a:solidFill>
              </a:defRPr>
            </a:pPr>
            <a:r>
              <a:t>Client only calls A</a:t>
            </a:r>
          </a:p>
        </p:txBody>
      </p:sp>
      <p:cxnSp>
        <p:nvCxnSpPr>
          <p:cNvPr id="12" name="Connector 11"/>
          <p:cNvCxnSpPr/>
          <p:nvPr/>
        </p:nvCxnSpPr>
        <p:spPr>
          <a:xfrm>
            <a:off x="5623560" y="1810512"/>
            <a:ext cx="731520" cy="0"/>
          </a:xfrm>
          <a:prstGeom prst="line">
            <a:avLst/>
          </a:prstGeom>
          <a:ln w="25400">
            <a:solidFill>
              <a:srgbClr val="38BDF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1810512"/>
            <a:ext cx="64008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263640" y="1810512"/>
            <a:ext cx="9144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55080" y="1810512"/>
            <a:ext cx="45720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55080" y="1810512"/>
            <a:ext cx="1005840" cy="612648"/>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431536" y="2423160"/>
            <a:ext cx="283464"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715000" y="2423160"/>
            <a:ext cx="64008"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715000" y="2423160"/>
            <a:ext cx="411480" cy="530352"/>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26480" y="2953512"/>
            <a:ext cx="0" cy="448056"/>
          </a:xfrm>
          <a:prstGeom prst="line">
            <a:avLst/>
          </a:prstGeom>
          <a:ln w="13970">
            <a:solidFill>
              <a:srgbClr val="64748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330952" y="1664208"/>
            <a:ext cx="585216" cy="292608"/>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58384" y="1728216"/>
            <a:ext cx="530352" cy="146304"/>
          </a:xfrm>
          <a:prstGeom prst="rect">
            <a:avLst/>
          </a:prstGeom>
          <a:noFill/>
        </p:spPr>
        <p:txBody>
          <a:bodyPr wrap="none" lIns="36576" tIns="18288" rIns="36576" bIns="18288">
            <a:spAutoFit/>
          </a:bodyPr>
          <a:lstStyle/>
          <a:p>
            <a:pPr algn="ctr">
              <a:defRPr sz="780" b="1">
                <a:solidFill>
                  <a:srgbClr val="38BDF8"/>
                </a:solidFill>
              </a:defRPr>
            </a:pPr>
            <a:r>
              <a:t>Client</a:t>
            </a:r>
          </a:p>
        </p:txBody>
      </p:sp>
      <p:sp>
        <p:nvSpPr>
          <p:cNvPr id="23" name="Oval 22"/>
          <p:cNvSpPr/>
          <p:nvPr/>
        </p:nvSpPr>
        <p:spPr>
          <a:xfrm>
            <a:off x="6190488" y="1645920"/>
            <a:ext cx="329184" cy="329184"/>
          </a:xfrm>
          <a:prstGeom prst="ellipse">
            <a:avLst/>
          </a:prstGeom>
          <a:solidFill>
            <a:srgbClr val="3B2F12"/>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ACC15"/>
                </a:solidFill>
              </a:defRPr>
            </a:pPr>
            <a:r>
              <a:t>A</a:t>
            </a:r>
          </a:p>
        </p:txBody>
      </p:sp>
      <p:sp>
        <p:nvSpPr>
          <p:cNvPr id="24" name="Oval 23"/>
          <p:cNvSpPr/>
          <p:nvPr/>
        </p:nvSpPr>
        <p:spPr>
          <a:xfrm>
            <a:off x="555040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B</a:t>
            </a:r>
          </a:p>
        </p:txBody>
      </p:sp>
      <p:sp>
        <p:nvSpPr>
          <p:cNvPr id="25" name="Oval 24"/>
          <p:cNvSpPr/>
          <p:nvPr/>
        </p:nvSpPr>
        <p:spPr>
          <a:xfrm>
            <a:off x="5266944"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C</a:t>
            </a:r>
          </a:p>
        </p:txBody>
      </p:sp>
      <p:sp>
        <p:nvSpPr>
          <p:cNvPr id="26" name="Oval 25"/>
          <p:cNvSpPr/>
          <p:nvPr/>
        </p:nvSpPr>
        <p:spPr>
          <a:xfrm>
            <a:off x="5614416"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D</a:t>
            </a:r>
          </a:p>
        </p:txBody>
      </p:sp>
      <p:sp>
        <p:nvSpPr>
          <p:cNvPr id="27" name="Oval 26"/>
          <p:cNvSpPr/>
          <p:nvPr/>
        </p:nvSpPr>
        <p:spPr>
          <a:xfrm>
            <a:off x="5961888" y="2788920"/>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E</a:t>
            </a:r>
          </a:p>
        </p:txBody>
      </p:sp>
      <p:sp>
        <p:nvSpPr>
          <p:cNvPr id="28" name="Oval 27"/>
          <p:cNvSpPr/>
          <p:nvPr/>
        </p:nvSpPr>
        <p:spPr>
          <a:xfrm>
            <a:off x="5961888" y="3236976"/>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F</a:t>
            </a:r>
          </a:p>
        </p:txBody>
      </p:sp>
      <p:sp>
        <p:nvSpPr>
          <p:cNvPr id="29" name="Oval 28"/>
          <p:cNvSpPr/>
          <p:nvPr/>
        </p:nvSpPr>
        <p:spPr>
          <a:xfrm>
            <a:off x="664768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G</a:t>
            </a:r>
          </a:p>
        </p:txBody>
      </p:sp>
      <p:sp>
        <p:nvSpPr>
          <p:cNvPr id="30" name="Oval 29"/>
          <p:cNvSpPr/>
          <p:nvPr/>
        </p:nvSpPr>
        <p:spPr>
          <a:xfrm>
            <a:off x="6099048" y="2258568"/>
            <a:ext cx="329184" cy="329184"/>
          </a:xfrm>
          <a:prstGeom prst="ellipse">
            <a:avLst/>
          </a:prstGeom>
          <a:solidFill>
            <a:srgbClr val="172033"/>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H</a:t>
            </a:r>
          </a:p>
        </p:txBody>
      </p:sp>
      <p:sp>
        <p:nvSpPr>
          <p:cNvPr id="31" name="Oval 30"/>
          <p:cNvSpPr/>
          <p:nvPr/>
        </p:nvSpPr>
        <p:spPr>
          <a:xfrm>
            <a:off x="7196328" y="2258568"/>
            <a:ext cx="329184" cy="329184"/>
          </a:xfrm>
          <a:prstGeom prst="ellipse">
            <a:avLst/>
          </a:prstGeom>
          <a:solidFill>
            <a:srgbClr val="13251F"/>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BBF7D0"/>
                </a:solidFill>
              </a:defRPr>
            </a:pPr>
            <a:r>
              <a:t>I</a:t>
            </a:r>
          </a:p>
        </p:txBody>
      </p:sp>
      <p:sp>
        <p:nvSpPr>
          <p:cNvPr id="32" name="TextBox 31"/>
          <p:cNvSpPr txBox="1"/>
          <p:nvPr/>
        </p:nvSpPr>
        <p:spPr>
          <a:xfrm>
            <a:off x="6812280" y="1627632"/>
            <a:ext cx="1097280" cy="310896"/>
          </a:xfrm>
          <a:prstGeom prst="rect">
            <a:avLst/>
          </a:prstGeom>
          <a:noFill/>
        </p:spPr>
        <p:txBody>
          <a:bodyPr wrap="none" lIns="36576" tIns="18288" rIns="36576" bIns="18288">
            <a:spAutoFit/>
          </a:bodyPr>
          <a:lstStyle/>
          <a:p>
            <a:pPr algn="ctr">
              <a:defRPr sz="780" b="0">
                <a:solidFill>
                  <a:srgbClr val="94A3B8"/>
                </a:solidFill>
              </a:defRPr>
            </a:pPr>
            <a:r>
              <a:t>first page gathers</a:t>
            </a:r>
            <a:br/>
            <a:r>
              <a:t>B-I once</a:t>
            </a:r>
          </a:p>
        </p:txBody>
      </p:sp>
      <p:sp>
        <p:nvSpPr>
          <p:cNvPr id="33" name="TextBox 32"/>
          <p:cNvSpPr txBox="1"/>
          <p:nvPr/>
        </p:nvSpPr>
        <p:spPr>
          <a:xfrm>
            <a:off x="5468112" y="3703320"/>
            <a:ext cx="2468880" cy="201168"/>
          </a:xfrm>
          <a:prstGeom prst="rect">
            <a:avLst/>
          </a:prstGeom>
          <a:noFill/>
        </p:spPr>
        <p:txBody>
          <a:bodyPr wrap="none" lIns="36576" tIns="18288" rIns="36576" bIns="18288">
            <a:spAutoFit/>
          </a:bodyPr>
          <a:lstStyle/>
          <a:p>
            <a:pPr algn="ctr">
              <a:defRPr sz="780" b="0">
                <a:solidFill>
                  <a:srgbClr val="CBD5E1"/>
                </a:solidFill>
              </a:defRPr>
            </a:pPr>
            <a:r>
              <a:t>A materializes/cache-builds the 1.6 MB result</a:t>
            </a:r>
          </a:p>
        </p:txBody>
      </p:sp>
      <p:sp>
        <p:nvSpPr>
          <p:cNvPr id="34" name="Rounded Rectangle 33"/>
          <p:cNvSpPr/>
          <p:nvPr/>
        </p:nvSpPr>
        <p:spPr>
          <a:xfrm>
            <a:off x="8366760" y="896112"/>
            <a:ext cx="3566160" cy="3200400"/>
          </a:xfrm>
          <a:prstGeom prst="roundRect">
            <a:avLst/>
          </a:prstGeom>
          <a:solidFill>
            <a:srgbClr val="101826"/>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577072" y="1024128"/>
            <a:ext cx="3154680" cy="219456"/>
          </a:xfrm>
          <a:prstGeom prst="rect">
            <a:avLst/>
          </a:prstGeom>
          <a:noFill/>
        </p:spPr>
        <p:txBody>
          <a:bodyPr wrap="none" lIns="36576" tIns="18288" rIns="36576" bIns="18288">
            <a:spAutoFit/>
          </a:bodyPr>
          <a:lstStyle/>
          <a:p>
            <a:pPr algn="ctr">
              <a:defRPr sz="1250" b="1">
                <a:solidFill>
                  <a:srgbClr val="F8FAFC"/>
                </a:solidFill>
              </a:defRPr>
            </a:pPr>
            <a:r>
              <a:t>Total time components</a:t>
            </a:r>
          </a:p>
        </p:txBody>
      </p:sp>
      <p:sp>
        <p:nvSpPr>
          <p:cNvPr id="36" name="Rounded Rectangle 35"/>
          <p:cNvSpPr/>
          <p:nvPr/>
        </p:nvSpPr>
        <p:spPr>
          <a:xfrm>
            <a:off x="8613648" y="1444752"/>
            <a:ext cx="2944368" cy="301752"/>
          </a:xfrm>
          <a:prstGeom prst="roundRect">
            <a:avLst/>
          </a:prstGeom>
          <a:solidFill>
            <a:srgbClr val="172033"/>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686800" y="1499616"/>
            <a:ext cx="1170432" cy="146304"/>
          </a:xfrm>
          <a:prstGeom prst="rect">
            <a:avLst/>
          </a:prstGeom>
          <a:noFill/>
        </p:spPr>
        <p:txBody>
          <a:bodyPr wrap="none" lIns="36576" tIns="18288" rIns="36576" bIns="18288">
            <a:spAutoFit/>
          </a:bodyPr>
          <a:lstStyle/>
          <a:p>
            <a:pPr>
              <a:defRPr sz="770" b="1">
                <a:solidFill>
                  <a:srgbClr val="38BDF8"/>
                </a:solidFill>
              </a:defRPr>
            </a:pPr>
            <a:r>
              <a:t>scatter-gather</a:t>
            </a:r>
          </a:p>
        </p:txBody>
      </p:sp>
      <p:sp>
        <p:nvSpPr>
          <p:cNvPr id="38" name="TextBox 37"/>
          <p:cNvSpPr txBox="1"/>
          <p:nvPr/>
        </p:nvSpPr>
        <p:spPr>
          <a:xfrm>
            <a:off x="9912096" y="1499616"/>
            <a:ext cx="1554480" cy="146304"/>
          </a:xfrm>
          <a:prstGeom prst="rect">
            <a:avLst/>
          </a:prstGeom>
          <a:noFill/>
        </p:spPr>
        <p:txBody>
          <a:bodyPr wrap="none" lIns="36576" tIns="18288" rIns="36576" bIns="18288">
            <a:spAutoFit/>
          </a:bodyPr>
          <a:lstStyle/>
          <a:p>
            <a:pPr>
              <a:defRPr sz="710" b="0">
                <a:solidFill>
                  <a:srgbClr val="CBD5E1"/>
                </a:solidFill>
              </a:defRPr>
            </a:pPr>
            <a:r>
              <a:t>B-I fan-in over Wi-Fi</a:t>
            </a:r>
          </a:p>
        </p:txBody>
      </p:sp>
      <p:sp>
        <p:nvSpPr>
          <p:cNvPr id="39" name="TextBox 38"/>
          <p:cNvSpPr txBox="1"/>
          <p:nvPr/>
        </p:nvSpPr>
        <p:spPr>
          <a:xfrm>
            <a:off x="10003536" y="1709928"/>
            <a:ext cx="146304" cy="128016"/>
          </a:xfrm>
          <a:prstGeom prst="rect">
            <a:avLst/>
          </a:prstGeom>
          <a:noFill/>
        </p:spPr>
        <p:txBody>
          <a:bodyPr wrap="none" lIns="36576" tIns="18288" rIns="36576" bIns="18288">
            <a:spAutoFit/>
          </a:bodyPr>
          <a:lstStyle/>
          <a:p>
            <a:pPr algn="ctr">
              <a:defRPr sz="850" b="1">
                <a:solidFill>
                  <a:srgbClr val="94A3B8"/>
                </a:solidFill>
              </a:defRPr>
            </a:pPr>
            <a:r>
              <a:t>+</a:t>
            </a:r>
          </a:p>
        </p:txBody>
      </p:sp>
      <p:sp>
        <p:nvSpPr>
          <p:cNvPr id="40" name="Rounded Rectangle 39"/>
          <p:cNvSpPr/>
          <p:nvPr/>
        </p:nvSpPr>
        <p:spPr>
          <a:xfrm>
            <a:off x="8613648" y="1828800"/>
            <a:ext cx="2944368" cy="301752"/>
          </a:xfrm>
          <a:prstGeom prst="roundRect">
            <a:avLst/>
          </a:prstGeom>
          <a:solidFill>
            <a:srgbClr val="172033"/>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0" y="1883664"/>
            <a:ext cx="1170432" cy="146304"/>
          </a:xfrm>
          <a:prstGeom prst="rect">
            <a:avLst/>
          </a:prstGeom>
          <a:noFill/>
        </p:spPr>
        <p:txBody>
          <a:bodyPr wrap="none" lIns="36576" tIns="18288" rIns="36576" bIns="18288">
            <a:spAutoFit/>
          </a:bodyPr>
          <a:lstStyle/>
          <a:p>
            <a:pPr>
              <a:defRPr sz="770" b="1">
                <a:solidFill>
                  <a:srgbClr val="34D399"/>
                </a:solidFill>
              </a:defRPr>
            </a:pPr>
            <a:r>
              <a:t>cache materialization</a:t>
            </a:r>
          </a:p>
        </p:txBody>
      </p:sp>
      <p:sp>
        <p:nvSpPr>
          <p:cNvPr id="42" name="TextBox 41"/>
          <p:cNvSpPr txBox="1"/>
          <p:nvPr/>
        </p:nvSpPr>
        <p:spPr>
          <a:xfrm>
            <a:off x="9912096" y="1883664"/>
            <a:ext cx="1554480" cy="146304"/>
          </a:xfrm>
          <a:prstGeom prst="rect">
            <a:avLst/>
          </a:prstGeom>
          <a:noFill/>
        </p:spPr>
        <p:txBody>
          <a:bodyPr wrap="none" lIns="36576" tIns="18288" rIns="36576" bIns="18288">
            <a:spAutoFit/>
          </a:bodyPr>
          <a:lstStyle/>
          <a:p>
            <a:pPr>
              <a:defRPr sz="710" b="0">
                <a:solidFill>
                  <a:srgbClr val="CBD5E1"/>
                </a:solidFill>
              </a:defRPr>
            </a:pPr>
            <a:r>
              <a:t>A assembles 1.6 MB</a:t>
            </a:r>
          </a:p>
        </p:txBody>
      </p:sp>
      <p:sp>
        <p:nvSpPr>
          <p:cNvPr id="43" name="TextBox 42"/>
          <p:cNvSpPr txBox="1"/>
          <p:nvPr/>
        </p:nvSpPr>
        <p:spPr>
          <a:xfrm>
            <a:off x="10003536" y="2093976"/>
            <a:ext cx="146304" cy="128016"/>
          </a:xfrm>
          <a:prstGeom prst="rect">
            <a:avLst/>
          </a:prstGeom>
          <a:noFill/>
        </p:spPr>
        <p:txBody>
          <a:bodyPr wrap="none" lIns="36576" tIns="18288" rIns="36576" bIns="18288">
            <a:spAutoFit/>
          </a:bodyPr>
          <a:lstStyle/>
          <a:p>
            <a:pPr algn="ctr">
              <a:defRPr sz="850" b="1">
                <a:solidFill>
                  <a:srgbClr val="94A3B8"/>
                </a:solidFill>
              </a:defRPr>
            </a:pPr>
            <a:r>
              <a:t>+</a:t>
            </a:r>
          </a:p>
        </p:txBody>
      </p:sp>
      <p:sp>
        <p:nvSpPr>
          <p:cNvPr id="44" name="Rounded Rectangle 43"/>
          <p:cNvSpPr/>
          <p:nvPr/>
        </p:nvSpPr>
        <p:spPr>
          <a:xfrm>
            <a:off x="8613648" y="2212848"/>
            <a:ext cx="2944368" cy="301752"/>
          </a:xfrm>
          <a:prstGeom prst="roundRect">
            <a:avLst/>
          </a:prstGeom>
          <a:solidFill>
            <a:srgbClr val="172033"/>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686800" y="2267712"/>
            <a:ext cx="1170432" cy="146304"/>
          </a:xfrm>
          <a:prstGeom prst="rect">
            <a:avLst/>
          </a:prstGeom>
          <a:noFill/>
        </p:spPr>
        <p:txBody>
          <a:bodyPr wrap="none" lIns="36576" tIns="18288" rIns="36576" bIns="18288">
            <a:spAutoFit/>
          </a:bodyPr>
          <a:lstStyle/>
          <a:p>
            <a:pPr>
              <a:defRPr sz="770" b="1">
                <a:solidFill>
                  <a:srgbClr val="FACC15"/>
                </a:solidFill>
              </a:defRPr>
            </a:pPr>
            <a:r>
              <a:t>amortized page cost</a:t>
            </a:r>
          </a:p>
        </p:txBody>
      </p:sp>
      <p:sp>
        <p:nvSpPr>
          <p:cNvPr id="46" name="TextBox 45"/>
          <p:cNvSpPr txBox="1"/>
          <p:nvPr/>
        </p:nvSpPr>
        <p:spPr>
          <a:xfrm>
            <a:off x="9912096" y="2267712"/>
            <a:ext cx="1554480" cy="146304"/>
          </a:xfrm>
          <a:prstGeom prst="rect">
            <a:avLst/>
          </a:prstGeom>
          <a:noFill/>
        </p:spPr>
        <p:txBody>
          <a:bodyPr wrap="none" lIns="36576" tIns="18288" rIns="36576" bIns="18288">
            <a:spAutoFit/>
          </a:bodyPr>
          <a:lstStyle/>
          <a:p>
            <a:pPr>
              <a:defRPr sz="710" b="0">
                <a:solidFill>
                  <a:srgbClr val="CBD5E1"/>
                </a:solidFill>
              </a:defRPr>
            </a:pPr>
            <a:r>
              <a:t>N QueryOnce calls</a:t>
            </a:r>
          </a:p>
        </p:txBody>
      </p:sp>
      <p:sp>
        <p:nvSpPr>
          <p:cNvPr id="47" name="TextBox 46"/>
          <p:cNvSpPr txBox="1"/>
          <p:nvPr/>
        </p:nvSpPr>
        <p:spPr>
          <a:xfrm>
            <a:off x="10003536" y="2478024"/>
            <a:ext cx="146304" cy="128016"/>
          </a:xfrm>
          <a:prstGeom prst="rect">
            <a:avLst/>
          </a:prstGeom>
          <a:noFill/>
        </p:spPr>
        <p:txBody>
          <a:bodyPr wrap="none" lIns="36576" tIns="18288" rIns="36576" bIns="18288">
            <a:spAutoFit/>
          </a:bodyPr>
          <a:lstStyle/>
          <a:p>
            <a:pPr algn="ctr">
              <a:defRPr sz="850" b="1">
                <a:solidFill>
                  <a:srgbClr val="94A3B8"/>
                </a:solidFill>
              </a:defRPr>
            </a:pPr>
            <a:r>
              <a:t>+</a:t>
            </a:r>
          </a:p>
        </p:txBody>
      </p:sp>
      <p:sp>
        <p:nvSpPr>
          <p:cNvPr id="48" name="Rounded Rectangle 47"/>
          <p:cNvSpPr/>
          <p:nvPr/>
        </p:nvSpPr>
        <p:spPr>
          <a:xfrm>
            <a:off x="8613648" y="2596896"/>
            <a:ext cx="2944368" cy="301752"/>
          </a:xfrm>
          <a:prstGeom prst="roundRect">
            <a:avLst/>
          </a:prstGeom>
          <a:solidFill>
            <a:srgbClr val="172033"/>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686800" y="2651760"/>
            <a:ext cx="1170432" cy="146304"/>
          </a:xfrm>
          <a:prstGeom prst="rect">
            <a:avLst/>
          </a:prstGeom>
          <a:noFill/>
        </p:spPr>
        <p:txBody>
          <a:bodyPr wrap="none" lIns="36576" tIns="18288" rIns="36576" bIns="18288">
            <a:spAutoFit/>
          </a:bodyPr>
          <a:lstStyle/>
          <a:p>
            <a:pPr>
              <a:defRPr sz="770" b="1">
                <a:solidFill>
                  <a:srgbClr val="A78BFA"/>
                </a:solidFill>
              </a:defRPr>
            </a:pPr>
            <a:r>
              <a:t>serialization/copy</a:t>
            </a:r>
          </a:p>
        </p:txBody>
      </p:sp>
      <p:sp>
        <p:nvSpPr>
          <p:cNvPr id="50" name="TextBox 49"/>
          <p:cNvSpPr txBox="1"/>
          <p:nvPr/>
        </p:nvSpPr>
        <p:spPr>
          <a:xfrm>
            <a:off x="9912096" y="2651760"/>
            <a:ext cx="1554480" cy="146304"/>
          </a:xfrm>
          <a:prstGeom prst="rect">
            <a:avLst/>
          </a:prstGeom>
          <a:noFill/>
        </p:spPr>
        <p:txBody>
          <a:bodyPr wrap="none" lIns="36576" tIns="18288" rIns="36576" bIns="18288">
            <a:spAutoFit/>
          </a:bodyPr>
          <a:lstStyle/>
          <a:p>
            <a:pPr>
              <a:defRPr sz="710" b="0">
                <a:solidFill>
                  <a:srgbClr val="CBD5E1"/>
                </a:solidFill>
              </a:defRPr>
            </a:pPr>
            <a:r>
              <a:t>protobuf bytes + slices</a:t>
            </a:r>
          </a:p>
        </p:txBody>
      </p:sp>
      <p:sp>
        <p:nvSpPr>
          <p:cNvPr id="51" name="Rounded Rectangle 50"/>
          <p:cNvSpPr/>
          <p:nvPr/>
        </p:nvSpPr>
        <p:spPr>
          <a:xfrm>
            <a:off x="8668512" y="3182112"/>
            <a:ext cx="2852928" cy="502920"/>
          </a:xfrm>
          <a:prstGeom prst="roundRect">
            <a:avLst/>
          </a:prstGeom>
          <a:solidFill>
            <a:srgbClr val="271C13"/>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796528" y="3273552"/>
            <a:ext cx="2578608" cy="256032"/>
          </a:xfrm>
          <a:prstGeom prst="rect">
            <a:avLst/>
          </a:prstGeom>
          <a:noFill/>
        </p:spPr>
        <p:txBody>
          <a:bodyPr wrap="none" lIns="36576" tIns="18288" rIns="36576" bIns="18288">
            <a:spAutoFit/>
          </a:bodyPr>
          <a:lstStyle/>
          <a:p>
            <a:pPr algn="ctr">
              <a:defRPr sz="910" b="1">
                <a:solidFill>
                  <a:srgbClr val="FDE68A"/>
                </a:solidFill>
              </a:defRPr>
            </a:pPr>
            <a:r>
              <a:t>32 KB has mostly paid off the page-count penalty.</a:t>
            </a:r>
          </a:p>
        </p:txBody>
      </p:sp>
      <p:sp>
        <p:nvSpPr>
          <p:cNvPr id="53" name="Rounded Rectangle 52"/>
          <p:cNvSpPr/>
          <p:nvPr/>
        </p:nvSpPr>
        <p:spPr>
          <a:xfrm>
            <a:off x="274320" y="4315968"/>
            <a:ext cx="3063240" cy="1975104"/>
          </a:xfrm>
          <a:prstGeom prst="roundRect">
            <a:avLst/>
          </a:prstGeom>
          <a:solidFill>
            <a:srgbClr val="111827"/>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57200" y="4443984"/>
            <a:ext cx="2697480" cy="219456"/>
          </a:xfrm>
          <a:prstGeom prst="rect">
            <a:avLst/>
          </a:prstGeom>
          <a:noFill/>
        </p:spPr>
        <p:txBody>
          <a:bodyPr wrap="none" lIns="36576" tIns="18288" rIns="36576" bIns="18288">
            <a:spAutoFit/>
          </a:bodyPr>
          <a:lstStyle/>
          <a:p>
            <a:pPr>
              <a:defRPr sz="1200" b="1">
                <a:solidFill>
                  <a:srgbClr val="F8FAFC"/>
                </a:solidFill>
              </a:defRPr>
            </a:pPr>
            <a:r>
              <a:t>Page overhead multiplies</a:t>
            </a:r>
          </a:p>
        </p:txBody>
      </p:sp>
      <p:sp>
        <p:nvSpPr>
          <p:cNvPr id="55" name="TextBox 54"/>
          <p:cNvSpPr txBox="1"/>
          <p:nvPr/>
        </p:nvSpPr>
        <p:spPr>
          <a:xfrm>
            <a:off x="475488" y="4809744"/>
            <a:ext cx="566928" cy="164592"/>
          </a:xfrm>
          <a:prstGeom prst="rect">
            <a:avLst/>
          </a:prstGeom>
          <a:noFill/>
        </p:spPr>
        <p:txBody>
          <a:bodyPr wrap="none" lIns="36576" tIns="18288" rIns="36576" bIns="18288">
            <a:spAutoFit/>
          </a:bodyPr>
          <a:lstStyle/>
          <a:p>
            <a:pPr>
              <a:defRPr sz="890" b="1">
                <a:solidFill>
                  <a:srgbClr val="FB7185"/>
                </a:solidFill>
              </a:defRPr>
            </a:pPr>
            <a:r>
              <a:t>2 KB</a:t>
            </a:r>
          </a:p>
        </p:txBody>
      </p:sp>
      <p:sp>
        <p:nvSpPr>
          <p:cNvPr id="56" name="TextBox 55"/>
          <p:cNvSpPr txBox="1"/>
          <p:nvPr/>
        </p:nvSpPr>
        <p:spPr>
          <a:xfrm>
            <a:off x="1024128" y="4809744"/>
            <a:ext cx="640080" cy="164592"/>
          </a:xfrm>
          <a:prstGeom prst="rect">
            <a:avLst/>
          </a:prstGeom>
          <a:noFill/>
        </p:spPr>
        <p:txBody>
          <a:bodyPr wrap="none" lIns="36576" tIns="18288" rIns="36576" bIns="18288">
            <a:spAutoFit/>
          </a:bodyPr>
          <a:lstStyle/>
          <a:p>
            <a:pPr>
              <a:defRPr sz="790" b="0">
                <a:solidFill>
                  <a:srgbClr val="CBD5E1"/>
                </a:solidFill>
              </a:defRPr>
            </a:pPr>
            <a:r>
              <a:t>800 pages</a:t>
            </a:r>
          </a:p>
        </p:txBody>
      </p:sp>
      <p:sp>
        <p:nvSpPr>
          <p:cNvPr id="57" name="Rectangle 56"/>
          <p:cNvSpPr/>
          <p:nvPr/>
        </p:nvSpPr>
        <p:spPr>
          <a:xfrm>
            <a:off x="173736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792224"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184708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1901952"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1956815"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011679"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2066543"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212140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2176272"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2231136"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228600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2340863"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239572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ectangle 69"/>
          <p:cNvSpPr/>
          <p:nvPr/>
        </p:nvSpPr>
        <p:spPr>
          <a:xfrm>
            <a:off x="2450591"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2505456"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2560320"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2615184"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670048" y="4818888"/>
            <a:ext cx="41148" cy="146304"/>
          </a:xfrm>
          <a:prstGeom prst="rect">
            <a:avLst/>
          </a:prstGeom>
          <a:solidFill>
            <a:srgbClr val="FB7185"/>
          </a:solidFill>
          <a:ln>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75488" y="5193792"/>
            <a:ext cx="566928" cy="164592"/>
          </a:xfrm>
          <a:prstGeom prst="rect">
            <a:avLst/>
          </a:prstGeom>
          <a:noFill/>
        </p:spPr>
        <p:txBody>
          <a:bodyPr wrap="none" lIns="36576" tIns="18288" rIns="36576" bIns="18288">
            <a:spAutoFit/>
          </a:bodyPr>
          <a:lstStyle/>
          <a:p>
            <a:pPr>
              <a:defRPr sz="890" b="1">
                <a:solidFill>
                  <a:srgbClr val="38BDF8"/>
                </a:solidFill>
              </a:defRPr>
            </a:pPr>
            <a:r>
              <a:t>32 KB</a:t>
            </a:r>
          </a:p>
        </p:txBody>
      </p:sp>
      <p:sp>
        <p:nvSpPr>
          <p:cNvPr id="76" name="TextBox 75"/>
          <p:cNvSpPr txBox="1"/>
          <p:nvPr/>
        </p:nvSpPr>
        <p:spPr>
          <a:xfrm>
            <a:off x="1024128" y="5193792"/>
            <a:ext cx="640080" cy="164592"/>
          </a:xfrm>
          <a:prstGeom prst="rect">
            <a:avLst/>
          </a:prstGeom>
          <a:noFill/>
        </p:spPr>
        <p:txBody>
          <a:bodyPr wrap="none" lIns="36576" tIns="18288" rIns="36576" bIns="18288">
            <a:spAutoFit/>
          </a:bodyPr>
          <a:lstStyle/>
          <a:p>
            <a:pPr>
              <a:defRPr sz="790" b="0">
                <a:solidFill>
                  <a:srgbClr val="CBD5E1"/>
                </a:solidFill>
              </a:defRPr>
            </a:pPr>
            <a:r>
              <a:t>50 pages</a:t>
            </a:r>
          </a:p>
        </p:txBody>
      </p:sp>
      <p:sp>
        <p:nvSpPr>
          <p:cNvPr id="77" name="Rectangle 76"/>
          <p:cNvSpPr/>
          <p:nvPr/>
        </p:nvSpPr>
        <p:spPr>
          <a:xfrm>
            <a:off x="1737360"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1792224"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847088"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1901952"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1956815"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2011679"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2066543"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2121408"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2176272" y="5202936"/>
            <a:ext cx="41148" cy="146304"/>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75488" y="5577840"/>
            <a:ext cx="566928" cy="164592"/>
          </a:xfrm>
          <a:prstGeom prst="rect">
            <a:avLst/>
          </a:prstGeom>
          <a:noFill/>
        </p:spPr>
        <p:txBody>
          <a:bodyPr wrap="none" lIns="36576" tIns="18288" rIns="36576" bIns="18288">
            <a:spAutoFit/>
          </a:bodyPr>
          <a:lstStyle/>
          <a:p>
            <a:pPr>
              <a:defRPr sz="890" b="1">
                <a:solidFill>
                  <a:srgbClr val="A78BFA"/>
                </a:solidFill>
              </a:defRPr>
            </a:pPr>
            <a:r>
              <a:t>512 KB</a:t>
            </a:r>
          </a:p>
        </p:txBody>
      </p:sp>
      <p:sp>
        <p:nvSpPr>
          <p:cNvPr id="87" name="TextBox 86"/>
          <p:cNvSpPr txBox="1"/>
          <p:nvPr/>
        </p:nvSpPr>
        <p:spPr>
          <a:xfrm>
            <a:off x="1024128" y="5577840"/>
            <a:ext cx="640080" cy="164592"/>
          </a:xfrm>
          <a:prstGeom prst="rect">
            <a:avLst/>
          </a:prstGeom>
          <a:noFill/>
        </p:spPr>
        <p:txBody>
          <a:bodyPr wrap="none" lIns="36576" tIns="18288" rIns="36576" bIns="18288">
            <a:spAutoFit/>
          </a:bodyPr>
          <a:lstStyle/>
          <a:p>
            <a:pPr>
              <a:defRPr sz="790" b="0">
                <a:solidFill>
                  <a:srgbClr val="CBD5E1"/>
                </a:solidFill>
              </a:defRPr>
            </a:pPr>
            <a:r>
              <a:t>4 pages</a:t>
            </a:r>
          </a:p>
        </p:txBody>
      </p:sp>
      <p:sp>
        <p:nvSpPr>
          <p:cNvPr id="88" name="Rectangle 87"/>
          <p:cNvSpPr/>
          <p:nvPr/>
        </p:nvSpPr>
        <p:spPr>
          <a:xfrm>
            <a:off x="1737360"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1792224"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1847088" y="5586984"/>
            <a:ext cx="41148" cy="146304"/>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475488" y="5989320"/>
            <a:ext cx="2651760" cy="164592"/>
          </a:xfrm>
          <a:prstGeom prst="rect">
            <a:avLst/>
          </a:prstGeom>
          <a:noFill/>
        </p:spPr>
        <p:txBody>
          <a:bodyPr wrap="none" lIns="36576" tIns="18288" rIns="36576" bIns="18288">
            <a:spAutoFit/>
          </a:bodyPr>
          <a:lstStyle/>
          <a:p>
            <a:pPr algn="ctr">
              <a:defRPr sz="800" b="1">
                <a:solidFill>
                  <a:srgbClr val="FACC15"/>
                </a:solidFill>
              </a:defRPr>
            </a:pPr>
            <a:r>
              <a:t>338 ms is all 800 pages, not one chunk.</a:t>
            </a:r>
          </a:p>
        </p:txBody>
      </p:sp>
      <p:sp>
        <p:nvSpPr>
          <p:cNvPr id="92" name="Rounded Rectangle 91"/>
          <p:cNvSpPr/>
          <p:nvPr/>
        </p:nvSpPr>
        <p:spPr>
          <a:xfrm>
            <a:off x="3538728" y="4315968"/>
            <a:ext cx="3977639" cy="1975104"/>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3730752" y="4443984"/>
            <a:ext cx="3611880" cy="219456"/>
          </a:xfrm>
          <a:prstGeom prst="rect">
            <a:avLst/>
          </a:prstGeom>
          <a:noFill/>
        </p:spPr>
        <p:txBody>
          <a:bodyPr wrap="none" lIns="36576" tIns="18288" rIns="36576" bIns="18288">
            <a:spAutoFit/>
          </a:bodyPr>
          <a:lstStyle/>
          <a:p>
            <a:pPr algn="ctr">
              <a:defRPr sz="1200" b="1">
                <a:solidFill>
                  <a:srgbClr val="F8FAFC"/>
                </a:solidFill>
              </a:defRPr>
            </a:pPr>
            <a:r>
              <a:t>Fairness: equal turns, not identical latency</a:t>
            </a:r>
          </a:p>
        </p:txBody>
      </p:sp>
      <p:sp>
        <p:nvSpPr>
          <p:cNvPr id="94" name="TextBox 93"/>
          <p:cNvSpPr txBox="1"/>
          <p:nvPr/>
        </p:nvSpPr>
        <p:spPr>
          <a:xfrm>
            <a:off x="3767328" y="4828032"/>
            <a:ext cx="411480" cy="146304"/>
          </a:xfrm>
          <a:prstGeom prst="rect">
            <a:avLst/>
          </a:prstGeom>
          <a:noFill/>
        </p:spPr>
        <p:txBody>
          <a:bodyPr wrap="none" lIns="36576" tIns="18288" rIns="36576" bIns="18288">
            <a:spAutoFit/>
          </a:bodyPr>
          <a:lstStyle/>
          <a:p>
            <a:pPr>
              <a:defRPr sz="750" b="1">
                <a:solidFill>
                  <a:srgbClr val="38BDF8"/>
                </a:solidFill>
              </a:defRPr>
            </a:pPr>
            <a:r>
              <a:t>cli1</a:t>
            </a:r>
          </a:p>
        </p:txBody>
      </p:sp>
      <p:cxnSp>
        <p:nvCxnSpPr>
          <p:cNvPr id="95" name="Connector 94"/>
          <p:cNvCxnSpPr/>
          <p:nvPr/>
        </p:nvCxnSpPr>
        <p:spPr>
          <a:xfrm>
            <a:off x="4206240" y="4901184"/>
            <a:ext cx="621792" cy="0"/>
          </a:xfrm>
          <a:prstGeom prst="line">
            <a:avLst/>
          </a:prstGeom>
          <a:ln w="15240">
            <a:solidFill>
              <a:srgbClr val="38BDF8"/>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767328" y="5084064"/>
            <a:ext cx="411480" cy="146304"/>
          </a:xfrm>
          <a:prstGeom prst="rect">
            <a:avLst/>
          </a:prstGeom>
          <a:noFill/>
        </p:spPr>
        <p:txBody>
          <a:bodyPr wrap="none" lIns="36576" tIns="18288" rIns="36576" bIns="18288">
            <a:spAutoFit/>
          </a:bodyPr>
          <a:lstStyle/>
          <a:p>
            <a:pPr>
              <a:defRPr sz="750" b="1">
                <a:solidFill>
                  <a:srgbClr val="34D399"/>
                </a:solidFill>
              </a:defRPr>
            </a:pPr>
            <a:r>
              <a:t>cli2</a:t>
            </a:r>
          </a:p>
        </p:txBody>
      </p:sp>
      <p:cxnSp>
        <p:nvCxnSpPr>
          <p:cNvPr id="97" name="Connector 96"/>
          <p:cNvCxnSpPr/>
          <p:nvPr/>
        </p:nvCxnSpPr>
        <p:spPr>
          <a:xfrm>
            <a:off x="4206240" y="5157216"/>
            <a:ext cx="621792" cy="0"/>
          </a:xfrm>
          <a:prstGeom prst="line">
            <a:avLst/>
          </a:prstGeom>
          <a:ln w="15240">
            <a:solidFill>
              <a:srgbClr val="34D399"/>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3767328" y="5340096"/>
            <a:ext cx="411480" cy="146304"/>
          </a:xfrm>
          <a:prstGeom prst="rect">
            <a:avLst/>
          </a:prstGeom>
          <a:noFill/>
        </p:spPr>
        <p:txBody>
          <a:bodyPr wrap="none" lIns="36576" tIns="18288" rIns="36576" bIns="18288">
            <a:spAutoFit/>
          </a:bodyPr>
          <a:lstStyle/>
          <a:p>
            <a:pPr>
              <a:defRPr sz="750" b="1">
                <a:solidFill>
                  <a:srgbClr val="FACC15"/>
                </a:solidFill>
              </a:defRPr>
            </a:pPr>
            <a:r>
              <a:t>cli3</a:t>
            </a:r>
          </a:p>
        </p:txBody>
      </p:sp>
      <p:cxnSp>
        <p:nvCxnSpPr>
          <p:cNvPr id="99" name="Connector 98"/>
          <p:cNvCxnSpPr/>
          <p:nvPr/>
        </p:nvCxnSpPr>
        <p:spPr>
          <a:xfrm>
            <a:off x="4206240" y="5413248"/>
            <a:ext cx="621792" cy="0"/>
          </a:xfrm>
          <a:prstGeom prst="line">
            <a:avLst/>
          </a:prstGeom>
          <a:ln w="15240">
            <a:solidFill>
              <a:srgbClr val="FACC15"/>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3767328" y="5596128"/>
            <a:ext cx="411480" cy="146304"/>
          </a:xfrm>
          <a:prstGeom prst="rect">
            <a:avLst/>
          </a:prstGeom>
          <a:noFill/>
        </p:spPr>
        <p:txBody>
          <a:bodyPr wrap="none" lIns="36576" tIns="18288" rIns="36576" bIns="18288">
            <a:spAutoFit/>
          </a:bodyPr>
          <a:lstStyle/>
          <a:p>
            <a:pPr>
              <a:defRPr sz="750" b="1">
                <a:solidFill>
                  <a:srgbClr val="A78BFA"/>
                </a:solidFill>
              </a:defRPr>
            </a:pPr>
            <a:r>
              <a:t>cli4</a:t>
            </a:r>
          </a:p>
        </p:txBody>
      </p:sp>
      <p:cxnSp>
        <p:nvCxnSpPr>
          <p:cNvPr id="101" name="Connector 100"/>
          <p:cNvCxnSpPr/>
          <p:nvPr/>
        </p:nvCxnSpPr>
        <p:spPr>
          <a:xfrm>
            <a:off x="4206240" y="5669280"/>
            <a:ext cx="621792" cy="0"/>
          </a:xfrm>
          <a:prstGeom prst="line">
            <a:avLst/>
          </a:prstGeom>
          <a:ln w="15240">
            <a:solidFill>
              <a:srgbClr val="A78BFA"/>
            </a:solidFill>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4919472" y="4873752"/>
            <a:ext cx="713232" cy="658368"/>
          </a:xfrm>
          <a:prstGeom prst="roundRect">
            <a:avLst/>
          </a:prstGeom>
          <a:solidFill>
            <a:srgbClr val="172033"/>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4992624" y="5020056"/>
            <a:ext cx="566928" cy="146304"/>
          </a:xfrm>
          <a:prstGeom prst="rect">
            <a:avLst/>
          </a:prstGeom>
          <a:noFill/>
        </p:spPr>
        <p:txBody>
          <a:bodyPr wrap="none" lIns="36576" tIns="18288" rIns="36576" bIns="18288">
            <a:spAutoFit/>
          </a:bodyPr>
          <a:lstStyle/>
          <a:p>
            <a:pPr algn="ctr">
              <a:defRPr sz="1300" b="1">
                <a:solidFill>
                  <a:srgbClr val="FACC15"/>
                </a:solidFill>
              </a:defRPr>
            </a:pPr>
            <a:r>
              <a:t>A</a:t>
            </a:r>
          </a:p>
        </p:txBody>
      </p:sp>
      <p:sp>
        <p:nvSpPr>
          <p:cNvPr id="104" name="TextBox 103"/>
          <p:cNvSpPr txBox="1"/>
          <p:nvPr/>
        </p:nvSpPr>
        <p:spPr>
          <a:xfrm>
            <a:off x="4974336" y="5239512"/>
            <a:ext cx="603504" cy="128016"/>
          </a:xfrm>
          <a:prstGeom prst="rect">
            <a:avLst/>
          </a:prstGeom>
          <a:noFill/>
        </p:spPr>
        <p:txBody>
          <a:bodyPr wrap="none" lIns="36576" tIns="18288" rIns="36576" bIns="18288">
            <a:spAutoFit/>
          </a:bodyPr>
          <a:lstStyle/>
          <a:p>
            <a:pPr algn="ctr">
              <a:defRPr sz="700" b="1">
                <a:solidFill>
                  <a:srgbClr val="FACC15"/>
                </a:solidFill>
              </a:defRPr>
            </a:pPr>
            <a:r>
              <a:t>queue</a:t>
            </a:r>
          </a:p>
        </p:txBody>
      </p:sp>
      <p:cxnSp>
        <p:nvCxnSpPr>
          <p:cNvPr id="105" name="Connector 104"/>
          <p:cNvCxnSpPr/>
          <p:nvPr/>
        </p:nvCxnSpPr>
        <p:spPr>
          <a:xfrm>
            <a:off x="5669280" y="5193792"/>
            <a:ext cx="457200" cy="0"/>
          </a:xfrm>
          <a:prstGeom prst="line">
            <a:avLst/>
          </a:prstGeom>
          <a:ln w="12700">
            <a:solidFill>
              <a:srgbClr val="38BDF8"/>
            </a:solidFill>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6199632" y="5074920"/>
            <a:ext cx="146304" cy="219456"/>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7" name="Connector 106"/>
          <p:cNvCxnSpPr/>
          <p:nvPr/>
        </p:nvCxnSpPr>
        <p:spPr>
          <a:xfrm>
            <a:off x="5669280" y="5193792"/>
            <a:ext cx="694944" cy="0"/>
          </a:xfrm>
          <a:prstGeom prst="line">
            <a:avLst/>
          </a:prstGeom>
          <a:ln w="12700">
            <a:solidFill>
              <a:srgbClr val="34D399"/>
            </a:solidFill>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6437376" y="5074920"/>
            <a:ext cx="146304" cy="219456"/>
          </a:xfrm>
          <a:prstGeom prst="rect">
            <a:avLst/>
          </a:prstGeom>
          <a:solidFill>
            <a:srgbClr val="34D399"/>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9" name="Connector 108"/>
          <p:cNvCxnSpPr/>
          <p:nvPr/>
        </p:nvCxnSpPr>
        <p:spPr>
          <a:xfrm>
            <a:off x="5669280" y="5193792"/>
            <a:ext cx="932688" cy="0"/>
          </a:xfrm>
          <a:prstGeom prst="line">
            <a:avLst/>
          </a:prstGeom>
          <a:ln w="12700">
            <a:solidFill>
              <a:srgbClr val="FACC15"/>
            </a:solidFill>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6675120" y="5074920"/>
            <a:ext cx="146304" cy="219456"/>
          </a:xfrm>
          <a:prstGeom prst="rect">
            <a:avLst/>
          </a:prstGeom>
          <a:solidFill>
            <a:srgbClr val="FACC15"/>
          </a:solidFill>
          <a:ln>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1" name="Connector 110"/>
          <p:cNvCxnSpPr/>
          <p:nvPr/>
        </p:nvCxnSpPr>
        <p:spPr>
          <a:xfrm>
            <a:off x="5669280" y="5193792"/>
            <a:ext cx="1170432" cy="0"/>
          </a:xfrm>
          <a:prstGeom prst="line">
            <a:avLst/>
          </a:prstGeom>
          <a:ln w="12700">
            <a:solidFill>
              <a:srgbClr val="A78BFA"/>
            </a:solidFill>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6912864" y="5074920"/>
            <a:ext cx="146304" cy="219456"/>
          </a:xfrm>
          <a:prstGeom prst="rect">
            <a:avLst/>
          </a:prstGeom>
          <a:solidFill>
            <a:srgbClr val="A78BFA"/>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3822191" y="5760720"/>
            <a:ext cx="3401568" cy="292608"/>
          </a:xfrm>
          <a:prstGeom prst="rect">
            <a:avLst/>
          </a:prstGeom>
          <a:noFill/>
        </p:spPr>
        <p:txBody>
          <a:bodyPr wrap="none" lIns="36576" tIns="18288" rIns="36576" bIns="18288">
            <a:spAutoFit/>
          </a:bodyPr>
          <a:lstStyle/>
          <a:p>
            <a:pPr algn="ctr">
              <a:defRPr sz="819" b="0">
                <a:solidFill>
                  <a:srgbClr val="CBD5E1"/>
                </a:solidFill>
              </a:defRPr>
            </a:pPr>
            <a:r>
              <a:t>Each client received 50 chunks; finish spread was 4.3% (116.8-121.8 ms).</a:t>
            </a:r>
          </a:p>
        </p:txBody>
      </p:sp>
      <p:sp>
        <p:nvSpPr>
          <p:cNvPr id="114" name="Rounded Rectangle 113"/>
          <p:cNvSpPr/>
          <p:nvPr/>
        </p:nvSpPr>
        <p:spPr>
          <a:xfrm>
            <a:off x="7726679" y="4315968"/>
            <a:ext cx="4206240" cy="1975104"/>
          </a:xfrm>
          <a:prstGeom prst="roundRect">
            <a:avLst/>
          </a:prstGeom>
          <a:solidFill>
            <a:srgbClr val="172033"/>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TextBox 114"/>
          <p:cNvSpPr txBox="1"/>
          <p:nvPr/>
        </p:nvSpPr>
        <p:spPr>
          <a:xfrm>
            <a:off x="7973568" y="4434840"/>
            <a:ext cx="1051560" cy="384048"/>
          </a:xfrm>
          <a:prstGeom prst="rect">
            <a:avLst/>
          </a:prstGeom>
          <a:noFill/>
        </p:spPr>
        <p:txBody>
          <a:bodyPr wrap="none" lIns="36576" tIns="18288" rIns="36576" bIns="18288">
            <a:spAutoFit/>
          </a:bodyPr>
          <a:lstStyle/>
          <a:p>
            <a:pPr>
              <a:defRPr sz="3000" b="1">
                <a:solidFill>
                  <a:srgbClr val="FACC15"/>
                </a:solidFill>
              </a:defRPr>
            </a:pPr>
            <a:r>
              <a:t>7.7x</a:t>
            </a:r>
          </a:p>
        </p:txBody>
      </p:sp>
      <p:sp>
        <p:nvSpPr>
          <p:cNvPr id="116" name="TextBox 115"/>
          <p:cNvSpPr txBox="1"/>
          <p:nvPr/>
        </p:nvSpPr>
        <p:spPr>
          <a:xfrm>
            <a:off x="9006840" y="4535424"/>
            <a:ext cx="2423160" cy="256032"/>
          </a:xfrm>
          <a:prstGeom prst="rect">
            <a:avLst/>
          </a:prstGeom>
          <a:noFill/>
        </p:spPr>
        <p:txBody>
          <a:bodyPr wrap="none" lIns="36576" tIns="18288" rIns="36576" bIns="18288">
            <a:spAutoFit/>
          </a:bodyPr>
          <a:lstStyle/>
          <a:p>
            <a:pPr>
              <a:defRPr sz="1700" b="1">
                <a:solidFill>
                  <a:srgbClr val="38BDF8"/>
                </a:solidFill>
              </a:defRPr>
            </a:pPr>
            <a:r>
              <a:t>338 ms -&gt; 44 ms</a:t>
            </a:r>
          </a:p>
        </p:txBody>
      </p:sp>
      <p:sp>
        <p:nvSpPr>
          <p:cNvPr id="117" name="TextBox 116"/>
          <p:cNvSpPr txBox="1"/>
          <p:nvPr/>
        </p:nvSpPr>
        <p:spPr>
          <a:xfrm>
            <a:off x="7973568" y="4892040"/>
            <a:ext cx="3474720" cy="182880"/>
          </a:xfrm>
          <a:prstGeom prst="rect">
            <a:avLst/>
          </a:prstGeom>
          <a:noFill/>
        </p:spPr>
        <p:txBody>
          <a:bodyPr wrap="none" lIns="36576" tIns="18288" rIns="36576" bIns="18288">
            <a:spAutoFit/>
          </a:bodyPr>
          <a:lstStyle/>
          <a:p>
            <a:pPr>
              <a:defRPr sz="869" b="0">
                <a:solidFill>
                  <a:srgbClr val="94A3B8"/>
                </a:solidFill>
              </a:defRPr>
            </a:pPr>
            <a:r>
              <a:t>2 KB to 512 KB total mean</a:t>
            </a:r>
          </a:p>
        </p:txBody>
      </p:sp>
      <p:sp>
        <p:nvSpPr>
          <p:cNvPr id="118" name="Rounded Rectangle 117"/>
          <p:cNvSpPr/>
          <p:nvPr/>
        </p:nvSpPr>
        <p:spPr>
          <a:xfrm>
            <a:off x="8010144" y="5230368"/>
            <a:ext cx="1463040" cy="566928"/>
          </a:xfrm>
          <a:prstGeom prst="roundRect">
            <a:avLst/>
          </a:prstGeom>
          <a:solidFill>
            <a:srgbClr val="101826"/>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9710928" y="5230368"/>
            <a:ext cx="1463040" cy="566928"/>
          </a:xfrm>
          <a:prstGeom prst="roundRect">
            <a:avLst/>
          </a:prstGeom>
          <a:solidFill>
            <a:srgbClr val="101826"/>
          </a:solidFill>
          <a:ln>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8119872" y="5340096"/>
            <a:ext cx="1243584" cy="146304"/>
          </a:xfrm>
          <a:prstGeom prst="rect">
            <a:avLst/>
          </a:prstGeom>
          <a:noFill/>
        </p:spPr>
        <p:txBody>
          <a:bodyPr wrap="none" lIns="36576" tIns="18288" rIns="36576" bIns="18288">
            <a:spAutoFit/>
          </a:bodyPr>
          <a:lstStyle/>
          <a:p>
            <a:pPr algn="ctr">
              <a:defRPr sz="1050" b="1">
                <a:solidFill>
                  <a:srgbClr val="38BDF8"/>
                </a:solidFill>
              </a:defRPr>
            </a:pPr>
            <a:r>
              <a:t>32 KB</a:t>
            </a:r>
          </a:p>
        </p:txBody>
      </p:sp>
      <p:sp>
        <p:nvSpPr>
          <p:cNvPr id="121" name="TextBox 120"/>
          <p:cNvSpPr txBox="1"/>
          <p:nvPr/>
        </p:nvSpPr>
        <p:spPr>
          <a:xfrm>
            <a:off x="8119872" y="5532120"/>
            <a:ext cx="1243584" cy="146304"/>
          </a:xfrm>
          <a:prstGeom prst="rect">
            <a:avLst/>
          </a:prstGeom>
          <a:noFill/>
        </p:spPr>
        <p:txBody>
          <a:bodyPr wrap="none" lIns="36576" tIns="18288" rIns="36576" bIns="18288">
            <a:spAutoFit/>
          </a:bodyPr>
          <a:lstStyle/>
          <a:p>
            <a:pPr algn="ctr">
              <a:defRPr sz="740" b="0">
                <a:solidFill>
                  <a:srgbClr val="DBEAFE"/>
                </a:solidFill>
              </a:defRPr>
            </a:pPr>
            <a:r>
              <a:t>45.7 ms / P90 61</a:t>
            </a:r>
          </a:p>
        </p:txBody>
      </p:sp>
      <p:sp>
        <p:nvSpPr>
          <p:cNvPr id="122" name="TextBox 121"/>
          <p:cNvSpPr txBox="1"/>
          <p:nvPr/>
        </p:nvSpPr>
        <p:spPr>
          <a:xfrm>
            <a:off x="9820656" y="5340096"/>
            <a:ext cx="1243584" cy="146304"/>
          </a:xfrm>
          <a:prstGeom prst="rect">
            <a:avLst/>
          </a:prstGeom>
          <a:noFill/>
        </p:spPr>
        <p:txBody>
          <a:bodyPr wrap="none" lIns="36576" tIns="18288" rIns="36576" bIns="18288">
            <a:spAutoFit/>
          </a:bodyPr>
          <a:lstStyle/>
          <a:p>
            <a:pPr algn="ctr">
              <a:defRPr sz="1050" b="1">
                <a:solidFill>
                  <a:srgbClr val="A78BFA"/>
                </a:solidFill>
              </a:defRPr>
            </a:pPr>
            <a:r>
              <a:t>512 KB</a:t>
            </a:r>
          </a:p>
        </p:txBody>
      </p:sp>
      <p:sp>
        <p:nvSpPr>
          <p:cNvPr id="123" name="TextBox 122"/>
          <p:cNvSpPr txBox="1"/>
          <p:nvPr/>
        </p:nvSpPr>
        <p:spPr>
          <a:xfrm>
            <a:off x="9820656" y="5532120"/>
            <a:ext cx="1243584" cy="146304"/>
          </a:xfrm>
          <a:prstGeom prst="rect">
            <a:avLst/>
          </a:prstGeom>
          <a:noFill/>
        </p:spPr>
        <p:txBody>
          <a:bodyPr wrap="none" lIns="36576" tIns="18288" rIns="36576" bIns="18288">
            <a:spAutoFit/>
          </a:bodyPr>
          <a:lstStyle/>
          <a:p>
            <a:pPr algn="ctr">
              <a:defRPr sz="740" b="0">
                <a:solidFill>
                  <a:srgbClr val="EDE9FE"/>
                </a:solidFill>
              </a:defRPr>
            </a:pPr>
            <a:r>
              <a:t>44.0 ms / P90 110</a:t>
            </a:r>
          </a:p>
        </p:txBody>
      </p:sp>
      <p:sp>
        <p:nvSpPr>
          <p:cNvPr id="124" name="TextBox 123"/>
          <p:cNvSpPr txBox="1"/>
          <p:nvPr/>
        </p:nvSpPr>
        <p:spPr>
          <a:xfrm>
            <a:off x="8019288" y="5833872"/>
            <a:ext cx="3712464" cy="553998"/>
          </a:xfrm>
          <a:prstGeom prst="rect">
            <a:avLst/>
          </a:prstGeom>
          <a:noFill/>
        </p:spPr>
        <p:txBody>
          <a:bodyPr wrap="square" lIns="36576" tIns="18288" rIns="36576" bIns="18288">
            <a:spAutoFit/>
          </a:bodyPr>
          <a:lstStyle/>
          <a:p>
            <a:pPr algn="ctr">
              <a:defRPr sz="840" b="1">
                <a:solidFill>
                  <a:srgbClr val="FACC15"/>
                </a:solidFill>
              </a:defRPr>
            </a:pPr>
            <a:r>
              <a:rPr lang="en-US" sz="840" dirty="0"/>
              <a:t>At 32 KB, page-count cost is mostly amortized. Key takeaway is that 32 KB is the best balance, since below it repeated paging dominates, and above it fixed costs and tail latency dominate.</a:t>
            </a:r>
          </a:p>
          <a:p>
            <a:pPr algn="ctr">
              <a:defRPr sz="840" b="1">
                <a:solidFill>
                  <a:srgbClr val="FACC15"/>
                </a:solidFill>
              </a:defRPr>
            </a:pPr>
            <a:endParaRPr dirty="0"/>
          </a:p>
        </p:txBody>
      </p:sp>
      <p:sp>
        <p:nvSpPr>
          <p:cNvPr id="125" name="TextBox 124"/>
          <p:cNvSpPr txBox="1"/>
          <p:nvPr/>
        </p:nvSpPr>
        <p:spPr>
          <a:xfrm>
            <a:off x="411480" y="6437376"/>
            <a:ext cx="11384280" cy="201168"/>
          </a:xfrm>
          <a:prstGeom prst="rect">
            <a:avLst/>
          </a:prstGeom>
          <a:noFill/>
        </p:spPr>
        <p:txBody>
          <a:bodyPr wrap="none" lIns="36576" tIns="18288" rIns="36576" bIns="18288">
            <a:spAutoFit/>
          </a:bodyPr>
          <a:lstStyle/>
          <a:p>
            <a:pPr algn="ctr">
              <a:defRPr sz="1070" b="1">
                <a:solidFill>
                  <a:srgbClr val="E2E8F0"/>
                </a:solidFill>
              </a:defRPr>
            </a:pPr>
            <a:r>
              <a:t>Takeaway: first page gathers/cache-builds once; chunk size controls how many later client-to-A page costs are repeated.</a:t>
            </a:r>
          </a:p>
        </p:txBody>
      </p:sp>
      <p:sp>
        <p:nvSpPr>
          <p:cNvPr id="126" name="TextBox 125">
            <a:extLst>
              <a:ext uri="{FF2B5EF4-FFF2-40B4-BE49-F238E27FC236}">
                <a16:creationId xmlns:a16="http://schemas.microsoft.com/office/drawing/2014/main" id="{FE135A38-9D36-960C-C91F-B0FA80DE703B}"/>
              </a:ext>
            </a:extLst>
          </p:cNvPr>
          <p:cNvSpPr txBox="1"/>
          <p:nvPr/>
        </p:nvSpPr>
        <p:spPr>
          <a:xfrm>
            <a:off x="2743200" y="4721045"/>
            <a:ext cx="594360" cy="378565"/>
          </a:xfrm>
          <a:prstGeom prst="rect">
            <a:avLst/>
          </a:prstGeom>
          <a:noFill/>
        </p:spPr>
        <p:txBody>
          <a:bodyPr wrap="square" lIns="36576" tIns="18288" rIns="36576" bIns="18288">
            <a:spAutoFit/>
          </a:bodyPr>
          <a:lstStyle/>
          <a:p>
            <a:pPr algn="ctr">
              <a:defRPr sz="740" b="0">
                <a:solidFill>
                  <a:srgbClr val="94A3B8"/>
                </a:solidFill>
              </a:defRPr>
            </a:pPr>
            <a:r>
              <a:rPr dirty="0"/>
              <a:t>~0.42 </a:t>
            </a:r>
            <a:r>
              <a:rPr dirty="0" err="1"/>
              <a:t>ms</a:t>
            </a:r>
            <a:r>
              <a:rPr dirty="0"/>
              <a:t>/page, but 800x</a:t>
            </a:r>
          </a:p>
        </p:txBody>
      </p:sp>
      <p:sp>
        <p:nvSpPr>
          <p:cNvPr id="127" name="TextBox 126">
            <a:extLst>
              <a:ext uri="{FF2B5EF4-FFF2-40B4-BE49-F238E27FC236}">
                <a16:creationId xmlns:a16="http://schemas.microsoft.com/office/drawing/2014/main" id="{169B63FE-F611-B85A-2C60-B02F78F135E2}"/>
              </a:ext>
            </a:extLst>
          </p:cNvPr>
          <p:cNvSpPr txBox="1"/>
          <p:nvPr/>
        </p:nvSpPr>
        <p:spPr>
          <a:xfrm>
            <a:off x="2414214" y="5202141"/>
            <a:ext cx="1078992" cy="228600"/>
          </a:xfrm>
          <a:prstGeom prst="rect">
            <a:avLst/>
          </a:prstGeom>
          <a:noFill/>
        </p:spPr>
        <p:txBody>
          <a:bodyPr wrap="none" lIns="36576" tIns="18288" rIns="36576" bIns="18288">
            <a:spAutoFit/>
          </a:bodyPr>
          <a:lstStyle/>
          <a:p>
            <a:pPr>
              <a:defRPr sz="740" b="0">
                <a:solidFill>
                  <a:srgbClr val="94A3B8"/>
                </a:solidFill>
              </a:defRPr>
            </a:pPr>
            <a:r>
              <a:rPr dirty="0"/>
              <a:t>~0.91 </a:t>
            </a:r>
            <a:r>
              <a:rPr dirty="0" err="1"/>
              <a:t>ms</a:t>
            </a:r>
            <a:r>
              <a:rPr dirty="0"/>
              <a:t>/page, knee</a:t>
            </a:r>
          </a:p>
        </p:txBody>
      </p:sp>
      <p:sp>
        <p:nvSpPr>
          <p:cNvPr id="128" name="TextBox 127">
            <a:extLst>
              <a:ext uri="{FF2B5EF4-FFF2-40B4-BE49-F238E27FC236}">
                <a16:creationId xmlns:a16="http://schemas.microsoft.com/office/drawing/2014/main" id="{47BAB282-4A61-55A5-1C15-6CA5CEB0C999}"/>
              </a:ext>
            </a:extLst>
          </p:cNvPr>
          <p:cNvSpPr txBox="1"/>
          <p:nvPr/>
        </p:nvSpPr>
        <p:spPr>
          <a:xfrm>
            <a:off x="2087117" y="5559552"/>
            <a:ext cx="1078992" cy="228600"/>
          </a:xfrm>
          <a:prstGeom prst="rect">
            <a:avLst/>
          </a:prstGeom>
          <a:noFill/>
        </p:spPr>
        <p:txBody>
          <a:bodyPr wrap="none" lIns="36576" tIns="18288" rIns="36576" bIns="18288">
            <a:spAutoFit/>
          </a:bodyPr>
          <a:lstStyle/>
          <a:p>
            <a:pPr>
              <a:defRPr sz="740" b="0">
                <a:solidFill>
                  <a:srgbClr val="94A3B8"/>
                </a:solidFill>
              </a:defRPr>
            </a:pPr>
            <a:r>
              <a:rPr dirty="0"/>
              <a:t>~11 </a:t>
            </a:r>
            <a:r>
              <a:rPr dirty="0" err="1"/>
              <a:t>ms</a:t>
            </a:r>
            <a:r>
              <a:rPr dirty="0"/>
              <a:t>/page, few but bigger</a:t>
            </a:r>
          </a:p>
        </p:txBody>
      </p:sp>
      <p:sp>
        <p:nvSpPr>
          <p:cNvPr id="129" name="TextBox 128">
            <a:extLst>
              <a:ext uri="{FF2B5EF4-FFF2-40B4-BE49-F238E27FC236}">
                <a16:creationId xmlns:a16="http://schemas.microsoft.com/office/drawing/2014/main" id="{5A2D05E7-E3FA-48C8-4C6C-538E00185E53}"/>
              </a:ext>
            </a:extLst>
          </p:cNvPr>
          <p:cNvSpPr txBox="1"/>
          <p:nvPr/>
        </p:nvSpPr>
        <p:spPr>
          <a:xfrm>
            <a:off x="201070" y="2324135"/>
            <a:ext cx="384048" cy="307777"/>
          </a:xfrm>
          <a:prstGeom prst="rect">
            <a:avLst/>
          </a:prstGeom>
          <a:noFill/>
        </p:spPr>
        <p:txBody>
          <a:bodyPr wrap="square" lIns="36576" tIns="18288" rIns="36576" bIns="18288">
            <a:spAutoFit/>
          </a:bodyPr>
          <a:lstStyle/>
          <a:p>
            <a:pPr algn="ctr">
              <a:defRPr sz="880" b="0">
                <a:solidFill>
                  <a:srgbClr val="94A3B8"/>
                </a:solidFill>
              </a:defRPr>
            </a:pPr>
            <a:r>
              <a:rPr lang="en-US" dirty="0"/>
              <a:t>C</a:t>
            </a:r>
            <a:r>
              <a:rPr dirty="0"/>
              <a:t>hunk</a:t>
            </a:r>
            <a:r>
              <a:rPr lang="en-US" dirty="0"/>
              <a:t> size</a:t>
            </a: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1051</TotalTime>
  <Words>1093</Words>
  <Application>Microsoft Macintosh PowerPoint</Application>
  <PresentationFormat>Widescreen</PresentationFormat>
  <Paragraphs>77</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Anukrithi Myadala</cp:lastModifiedBy>
  <cp:revision>5</cp:revision>
  <dcterms:created xsi:type="dcterms:W3CDTF">2013-01-27T09:14:16Z</dcterms:created>
  <dcterms:modified xsi:type="dcterms:W3CDTF">2026-05-12T00:21:39Z</dcterms:modified>
  <cp:category/>
</cp:coreProperties>
</file>