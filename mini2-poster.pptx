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focus on one finding from our final run, not walk through the whole project checklist. We used NYC 311 service requests, converted a 90,000 row subset into compact 20 byte records, and returned 80,000 records through our two laptop, nine node gRPC tree. The only variable in this graph is chunk size. At first the result looks simple: 2 KB chunks took about 338 ms, and 512 KB chunks took about 44 ms, so the extreme speedup is 7.7x. But the part we found more interesting is that 32 KB used 50 pages and 512 KB used only 4 pages, yet their means were almost tied: 45.7 ms versus 44.0 ms. The slide is explaining why that happens.</a:t>
            </a:r>
          </a:p>
          <a:p/>
          <a:p>
            <a:r>
              <a:t>The tree diagram is the starting point. The client does not directly call B through I. The client only calls A, because A is the public entry point and owns the scatter-gather fan-in. On the first page, A has to query B, H, G, and I. B gathers C, D, and E, and E gathers F. Once those payloads return, A materializes the full 1.6 MB result and stores it in the cache under the request id. That first page is special because it pays the distributed gather cost. Later pages for the same request id do not gather the whole tree again; A slices the cached payload and returns the next chunk.</a:t>
            </a:r>
          </a:p>
          <a:p/>
          <a:p>
            <a:r>
              <a:t>That is why total time is not only bandwidth. The cost has four pieces: scatter-gather fan-in over Wi-Fi, cache materialization at A, amortized page cost for each QueryOnce call, and serialization/copy work for the protobuf bytes. Small chunks help on one part: each response is tiny. But they hurt badly on another part: we repeat the page path hundreds of times. Large chunks reduce the number of page calls, but each response is larger and the tail latency becomes more visible.</a:t>
            </a:r>
          </a:p>
          <a:p/>
          <a:p>
            <a:r>
              <a:t>The bottom-left diagram is there to avoid a common misunderstanding. The 338 ms at 2 KB is not one chunk response. It is all 800 page responses combined. Each 2 KB page is cheap, about 0.42 ms on average, but 800 cheap operations still add up. At 32 KB, the client only needs 50 pages, so most of the repeated paging overhead has already been amortized. Going from 50 pages down to 4 pages still helps a little, but now the fixed gather/cache floor and payload movement dominate. That is why 32 KB and 512 KB have almost the same mean.</a:t>
            </a:r>
          </a:p>
          <a:p/>
          <a:p>
            <a:r>
              <a:t>The fairness box shows why we did not just say 512 KB is the answer. At the 32 KB knee, four clients each got exactly 50 chunks through A's queue. Their finish times were not identical, but they were close: 116.8 to 121.8 ms, a 4.3 percent spread. So this is opportunity fairness. A gives clients equal turns, but network timing still creates slightly different wall-clock completion times.</a:t>
            </a:r>
          </a:p>
          <a:p/>
          <a:p>
            <a:r>
              <a:t>The conclusion is that the unique finding is not simply bigger chunks are faster. Chunk size shifts the bottleneck. Below 32 KB, repeated client-to-A paging dominates. Above 32 KB, the fixed gather/cache floor, serialization and copy work, and tail latency dominate. If we optimize only for mean or median, 512 KB wins by a little. If we care about robustness and fairness, 32 KB is the better operating point for this setup because it is nearly as fast but has much lower P90.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219456"/>
            <a:ext cx="3246120" cy="384048"/>
          </a:xfrm>
          <a:prstGeom prst="rect">
            <a:avLst/>
          </a:prstGeom>
          <a:noFill/>
        </p:spPr>
        <p:txBody>
          <a:bodyPr wrap="none" lIns="36576" rIns="36576" tIns="18288" bIns="18288">
            <a:spAutoFit/>
          </a:bodyPr>
          <a:lstStyle/>
          <a:p>
            <a:pPr>
              <a:defRPr sz="2800" b="1">
                <a:solidFill>
                  <a:srgbClr val="FACC15"/>
                </a:solidFill>
              </a:defRPr>
            </a:pPr>
            <a:r>
              <a:t>THE 32 KB KNEE</a:t>
            </a:r>
          </a:p>
        </p:txBody>
      </p:sp>
      <p:sp>
        <p:nvSpPr>
          <p:cNvPr id="4" name="TextBox 3"/>
          <p:cNvSpPr txBox="1"/>
          <p:nvPr/>
        </p:nvSpPr>
        <p:spPr>
          <a:xfrm>
            <a:off x="3639312" y="256032"/>
            <a:ext cx="6858000" cy="310896"/>
          </a:xfrm>
          <a:prstGeom prst="rect">
            <a:avLst/>
          </a:prstGeom>
          <a:noFill/>
        </p:spPr>
        <p:txBody>
          <a:bodyPr wrap="none" lIns="36576" rIns="36576" tIns="18288" bIns="18288">
            <a:spAutoFit/>
          </a:bodyPr>
          <a:lstStyle/>
          <a:p>
            <a:pPr>
              <a:defRPr sz="1450" b="1">
                <a:solidFill>
                  <a:srgbClr val="E2E8F0"/>
                </a:solidFill>
              </a:defRPr>
            </a:pPr>
            <a:r>
              <a:t>Why 50 pages at 32 KB almost tied 4 pages at 512 KB</a:t>
            </a:r>
          </a:p>
        </p:txBody>
      </p:sp>
      <p:sp>
        <p:nvSpPr>
          <p:cNvPr id="5" name="TextBox 4"/>
          <p:cNvSpPr txBox="1"/>
          <p:nvPr/>
        </p:nvSpPr>
        <p:spPr>
          <a:xfrm>
            <a:off x="10607040" y="310896"/>
            <a:ext cx="1188720" cy="219456"/>
          </a:xfrm>
          <a:prstGeom prst="rect">
            <a:avLst/>
          </a:prstGeom>
          <a:noFill/>
        </p:spPr>
        <p:txBody>
          <a:bodyPr wrap="none" lIns="36576" rIns="36576" tIns="18288" bIns="18288">
            <a:spAutoFit/>
          </a:bodyPr>
          <a:lstStyle/>
          <a:p>
            <a:pPr algn="r">
              <a:defRPr sz="900" b="0">
                <a:solidFill>
                  <a:srgbClr val="94A3B8"/>
                </a:solidFill>
              </a:defRPr>
            </a:pPr>
            <a:r>
              <a:t>Anukrithi + Asim</a:t>
            </a:r>
          </a:p>
        </p:txBody>
      </p:sp>
      <p:sp>
        <p:nvSpPr>
          <p:cNvPr id="6" name="TextBox 5"/>
          <p:cNvSpPr txBox="1"/>
          <p:nvPr/>
        </p:nvSpPr>
        <p:spPr>
          <a:xfrm>
            <a:off x="3767328" y="621792"/>
            <a:ext cx="7498079" cy="201168"/>
          </a:xfrm>
          <a:prstGeom prst="rect">
            <a:avLst/>
          </a:prstGeom>
          <a:noFill/>
        </p:spPr>
        <p:txBody>
          <a:bodyPr wrap="none" lIns="36576" rIns="36576" tIns="18288" bIns="18288">
            <a:spAutoFit/>
          </a:bodyPr>
          <a:lstStyle/>
          <a:p>
            <a:pPr>
              <a:defRPr sz="880" b="0">
                <a:solidFill>
                  <a:srgbClr val="94A3B8"/>
                </a:solidFill>
              </a:defRPr>
            </a:pPr>
            <a:r>
              <a:t>NYC 311 2020-present | 80k returned rows | 20-byte records | A-F host1, G/H/I host2 | 30 runs/chunk</a:t>
            </a:r>
          </a:p>
        </p:txBody>
      </p:sp>
      <p:sp>
        <p:nvSpPr>
          <p:cNvPr id="7" name="Rounded Rectangle 6"/>
          <p:cNvSpPr/>
          <p:nvPr/>
        </p:nvSpPr>
        <p:spPr>
          <a:xfrm>
            <a:off x="274320" y="896112"/>
            <a:ext cx="4773168" cy="3200400"/>
          </a:xfrm>
          <a:prstGeom prst="roundRect">
            <a:avLst/>
          </a:prstGeom>
          <a:solidFill>
            <a:srgbClr val="111827"/>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oster_chunk_chart.png"/>
          <p:cNvPicPr>
            <a:picLocks noChangeAspect="1"/>
          </p:cNvPicPr>
          <p:nvPr/>
        </p:nvPicPr>
        <p:blipFill>
          <a:blip r:embed="rId2"/>
          <a:stretch>
            <a:fillRect/>
          </a:stretch>
        </p:blipFill>
        <p:spPr>
          <a:xfrm>
            <a:off x="438912" y="1069848"/>
            <a:ext cx="4462272" cy="2816352"/>
          </a:xfrm>
          <a:prstGeom prst="rect">
            <a:avLst/>
          </a:prstGeom>
        </p:spPr>
      </p:pic>
      <p:sp>
        <p:nvSpPr>
          <p:cNvPr id="9" name="Rounded Rectangle 8"/>
          <p:cNvSpPr/>
          <p:nvPr/>
        </p:nvSpPr>
        <p:spPr>
          <a:xfrm>
            <a:off x="5230368" y="896112"/>
            <a:ext cx="2971800" cy="3200400"/>
          </a:xfrm>
          <a:prstGeom prst="roundRect">
            <a:avLst/>
          </a:prstGeom>
          <a:solidFill>
            <a:srgbClr val="0F172A"/>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13248" y="1024128"/>
            <a:ext cx="2606040" cy="219456"/>
          </a:xfrm>
          <a:prstGeom prst="rect">
            <a:avLst/>
          </a:prstGeom>
          <a:noFill/>
        </p:spPr>
        <p:txBody>
          <a:bodyPr wrap="none" lIns="36576" rIns="36576" tIns="18288" bIns="18288">
            <a:spAutoFit/>
          </a:bodyPr>
          <a:lstStyle/>
          <a:p>
            <a:pPr algn="ctr">
              <a:defRPr sz="1250" b="1">
                <a:solidFill>
                  <a:srgbClr val="F8FAFC"/>
                </a:solidFill>
              </a:defRPr>
            </a:pPr>
            <a:r>
              <a:t>Scatter-gather fan-in</a:t>
            </a:r>
          </a:p>
        </p:txBody>
      </p:sp>
      <p:sp>
        <p:nvSpPr>
          <p:cNvPr id="11" name="TextBox 10"/>
          <p:cNvSpPr txBox="1"/>
          <p:nvPr/>
        </p:nvSpPr>
        <p:spPr>
          <a:xfrm>
            <a:off x="5504688" y="1261872"/>
            <a:ext cx="2423160" cy="182880"/>
          </a:xfrm>
          <a:prstGeom prst="rect">
            <a:avLst/>
          </a:prstGeom>
          <a:noFill/>
        </p:spPr>
        <p:txBody>
          <a:bodyPr wrap="none" lIns="36576" rIns="36576" tIns="18288" bIns="18288">
            <a:spAutoFit/>
          </a:bodyPr>
          <a:lstStyle/>
          <a:p>
            <a:pPr algn="ctr">
              <a:defRPr sz="919" b="1">
                <a:solidFill>
                  <a:srgbClr val="38BDF8"/>
                </a:solidFill>
              </a:defRPr>
            </a:pPr>
            <a:r>
              <a:t>Client only calls A</a:t>
            </a:r>
          </a:p>
        </p:txBody>
      </p:sp>
      <p:cxnSp>
        <p:nvCxnSpPr>
          <p:cNvPr id="12" name="Connector 11"/>
          <p:cNvCxnSpPr/>
          <p:nvPr/>
        </p:nvCxnSpPr>
        <p:spPr>
          <a:xfrm>
            <a:off x="5623560" y="1810512"/>
            <a:ext cx="731520" cy="0"/>
          </a:xfrm>
          <a:prstGeom prst="line">
            <a:avLst/>
          </a:prstGeom>
          <a:ln w="25400">
            <a:solidFill>
              <a:srgbClr val="38BDF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1810512"/>
            <a:ext cx="640080" cy="612648"/>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263640" y="1810512"/>
            <a:ext cx="91440" cy="612648"/>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55080" y="1810512"/>
            <a:ext cx="457200" cy="612648"/>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355080" y="1810512"/>
            <a:ext cx="1005840" cy="612648"/>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431536" y="2423160"/>
            <a:ext cx="283464" cy="530352"/>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715000" y="2423160"/>
            <a:ext cx="64008" cy="530352"/>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715000" y="2423160"/>
            <a:ext cx="411480" cy="530352"/>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126480" y="2953512"/>
            <a:ext cx="0" cy="448056"/>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330952" y="1664208"/>
            <a:ext cx="585216" cy="292608"/>
          </a:xfrm>
          <a:prstGeom prst="roundRect">
            <a:avLst/>
          </a:prstGeom>
          <a:solidFill>
            <a:srgbClr val="1E293B"/>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58384" y="1728216"/>
            <a:ext cx="530352" cy="146304"/>
          </a:xfrm>
          <a:prstGeom prst="rect">
            <a:avLst/>
          </a:prstGeom>
          <a:noFill/>
        </p:spPr>
        <p:txBody>
          <a:bodyPr wrap="none" lIns="36576" rIns="36576" tIns="18288" bIns="18288">
            <a:spAutoFit/>
          </a:bodyPr>
          <a:lstStyle/>
          <a:p>
            <a:pPr algn="ctr">
              <a:defRPr sz="780" b="1">
                <a:solidFill>
                  <a:srgbClr val="38BDF8"/>
                </a:solidFill>
              </a:defRPr>
            </a:pPr>
            <a:r>
              <a:t>Client</a:t>
            </a:r>
          </a:p>
        </p:txBody>
      </p:sp>
      <p:sp>
        <p:nvSpPr>
          <p:cNvPr id="23" name="Oval 22"/>
          <p:cNvSpPr/>
          <p:nvPr/>
        </p:nvSpPr>
        <p:spPr>
          <a:xfrm>
            <a:off x="6190488" y="1645920"/>
            <a:ext cx="329184" cy="329184"/>
          </a:xfrm>
          <a:prstGeom prst="ellipse">
            <a:avLst/>
          </a:prstGeom>
          <a:solidFill>
            <a:srgbClr val="3B2F12"/>
          </a:solidFill>
          <a:ln>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FACC15"/>
                </a:solidFill>
              </a:defRPr>
            </a:pPr>
            <a:r>
              <a:t>A</a:t>
            </a:r>
          </a:p>
        </p:txBody>
      </p:sp>
      <p:sp>
        <p:nvSpPr>
          <p:cNvPr id="24" name="Oval 23"/>
          <p:cNvSpPr/>
          <p:nvPr/>
        </p:nvSpPr>
        <p:spPr>
          <a:xfrm>
            <a:off x="5550408" y="2258568"/>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F8FAFC"/>
                </a:solidFill>
              </a:defRPr>
            </a:pPr>
            <a:r>
              <a:t>B</a:t>
            </a:r>
          </a:p>
        </p:txBody>
      </p:sp>
      <p:sp>
        <p:nvSpPr>
          <p:cNvPr id="25" name="Oval 24"/>
          <p:cNvSpPr/>
          <p:nvPr/>
        </p:nvSpPr>
        <p:spPr>
          <a:xfrm>
            <a:off x="5266944" y="2788920"/>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F8FAFC"/>
                </a:solidFill>
              </a:defRPr>
            </a:pPr>
            <a:r>
              <a:t>C</a:t>
            </a:r>
          </a:p>
        </p:txBody>
      </p:sp>
      <p:sp>
        <p:nvSpPr>
          <p:cNvPr id="26" name="Oval 25"/>
          <p:cNvSpPr/>
          <p:nvPr/>
        </p:nvSpPr>
        <p:spPr>
          <a:xfrm>
            <a:off x="5614416" y="2788920"/>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F8FAFC"/>
                </a:solidFill>
              </a:defRPr>
            </a:pPr>
            <a:r>
              <a:t>D</a:t>
            </a:r>
          </a:p>
        </p:txBody>
      </p:sp>
      <p:sp>
        <p:nvSpPr>
          <p:cNvPr id="27" name="Oval 26"/>
          <p:cNvSpPr/>
          <p:nvPr/>
        </p:nvSpPr>
        <p:spPr>
          <a:xfrm>
            <a:off x="5961888" y="2788920"/>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F8FAFC"/>
                </a:solidFill>
              </a:defRPr>
            </a:pPr>
            <a:r>
              <a:t>E</a:t>
            </a:r>
          </a:p>
        </p:txBody>
      </p:sp>
      <p:sp>
        <p:nvSpPr>
          <p:cNvPr id="28" name="Oval 27"/>
          <p:cNvSpPr/>
          <p:nvPr/>
        </p:nvSpPr>
        <p:spPr>
          <a:xfrm>
            <a:off x="5961888" y="3236976"/>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F8FAFC"/>
                </a:solidFill>
              </a:defRPr>
            </a:pPr>
            <a:r>
              <a:t>F</a:t>
            </a:r>
          </a:p>
        </p:txBody>
      </p:sp>
      <p:sp>
        <p:nvSpPr>
          <p:cNvPr id="29" name="Oval 28"/>
          <p:cNvSpPr/>
          <p:nvPr/>
        </p:nvSpPr>
        <p:spPr>
          <a:xfrm>
            <a:off x="6647688" y="2258568"/>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F8FAFC"/>
                </a:solidFill>
              </a:defRPr>
            </a:pPr>
            <a:r>
              <a:t>G</a:t>
            </a:r>
          </a:p>
        </p:txBody>
      </p:sp>
      <p:sp>
        <p:nvSpPr>
          <p:cNvPr id="30" name="Oval 29"/>
          <p:cNvSpPr/>
          <p:nvPr/>
        </p:nvSpPr>
        <p:spPr>
          <a:xfrm>
            <a:off x="6099048" y="2258568"/>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F8FAFC"/>
                </a:solidFill>
              </a:defRPr>
            </a:pPr>
            <a:r>
              <a:t>H</a:t>
            </a:r>
          </a:p>
        </p:txBody>
      </p:sp>
      <p:sp>
        <p:nvSpPr>
          <p:cNvPr id="31" name="Oval 30"/>
          <p:cNvSpPr/>
          <p:nvPr/>
        </p:nvSpPr>
        <p:spPr>
          <a:xfrm>
            <a:off x="7196328" y="2258568"/>
            <a:ext cx="329184" cy="329184"/>
          </a:xfrm>
          <a:prstGeom prst="ellipse">
            <a:avLst/>
          </a:prstGeom>
          <a:solidFill>
            <a:srgbClr val="13251F"/>
          </a:solidFill>
          <a:ln>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BBF7D0"/>
                </a:solidFill>
              </a:defRPr>
            </a:pPr>
            <a:r>
              <a:t>I</a:t>
            </a:r>
          </a:p>
        </p:txBody>
      </p:sp>
      <p:sp>
        <p:nvSpPr>
          <p:cNvPr id="32" name="TextBox 31"/>
          <p:cNvSpPr txBox="1"/>
          <p:nvPr/>
        </p:nvSpPr>
        <p:spPr>
          <a:xfrm>
            <a:off x="6812280" y="1627632"/>
            <a:ext cx="1097280" cy="310896"/>
          </a:xfrm>
          <a:prstGeom prst="rect">
            <a:avLst/>
          </a:prstGeom>
          <a:noFill/>
        </p:spPr>
        <p:txBody>
          <a:bodyPr wrap="none" lIns="36576" rIns="36576" tIns="18288" bIns="18288">
            <a:spAutoFit/>
          </a:bodyPr>
          <a:lstStyle/>
          <a:p>
            <a:pPr algn="ctr">
              <a:defRPr sz="780" b="0">
                <a:solidFill>
                  <a:srgbClr val="94A3B8"/>
                </a:solidFill>
              </a:defRPr>
            </a:pPr>
            <a:r>
              <a:t>first page gathers</a:t>
            </a:r>
            <a:br/>
            <a:r>
              <a:t>B-I once</a:t>
            </a:r>
          </a:p>
        </p:txBody>
      </p:sp>
      <p:sp>
        <p:nvSpPr>
          <p:cNvPr id="33" name="TextBox 32"/>
          <p:cNvSpPr txBox="1"/>
          <p:nvPr/>
        </p:nvSpPr>
        <p:spPr>
          <a:xfrm>
            <a:off x="5468112" y="3703320"/>
            <a:ext cx="2468880" cy="201168"/>
          </a:xfrm>
          <a:prstGeom prst="rect">
            <a:avLst/>
          </a:prstGeom>
          <a:noFill/>
        </p:spPr>
        <p:txBody>
          <a:bodyPr wrap="none" lIns="36576" rIns="36576" tIns="18288" bIns="18288">
            <a:spAutoFit/>
          </a:bodyPr>
          <a:lstStyle/>
          <a:p>
            <a:pPr algn="ctr">
              <a:defRPr sz="780" b="0">
                <a:solidFill>
                  <a:srgbClr val="CBD5E1"/>
                </a:solidFill>
              </a:defRPr>
            </a:pPr>
            <a:r>
              <a:t>A materializes/cache-builds the 1.6 MB result</a:t>
            </a:r>
          </a:p>
        </p:txBody>
      </p:sp>
      <p:sp>
        <p:nvSpPr>
          <p:cNvPr id="34" name="Rounded Rectangle 33"/>
          <p:cNvSpPr/>
          <p:nvPr/>
        </p:nvSpPr>
        <p:spPr>
          <a:xfrm>
            <a:off x="8366760" y="896112"/>
            <a:ext cx="3566160" cy="3200400"/>
          </a:xfrm>
          <a:prstGeom prst="roundRect">
            <a:avLst/>
          </a:prstGeom>
          <a:solidFill>
            <a:srgbClr val="101826"/>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77072" y="1024128"/>
            <a:ext cx="3154680" cy="219456"/>
          </a:xfrm>
          <a:prstGeom prst="rect">
            <a:avLst/>
          </a:prstGeom>
          <a:noFill/>
        </p:spPr>
        <p:txBody>
          <a:bodyPr wrap="none" lIns="36576" rIns="36576" tIns="18288" bIns="18288">
            <a:spAutoFit/>
          </a:bodyPr>
          <a:lstStyle/>
          <a:p>
            <a:pPr algn="ctr">
              <a:defRPr sz="1250" b="1">
                <a:solidFill>
                  <a:srgbClr val="F8FAFC"/>
                </a:solidFill>
              </a:defRPr>
            </a:pPr>
            <a:r>
              <a:t>Total time components</a:t>
            </a:r>
          </a:p>
        </p:txBody>
      </p:sp>
      <p:sp>
        <p:nvSpPr>
          <p:cNvPr id="36" name="Rounded Rectangle 35"/>
          <p:cNvSpPr/>
          <p:nvPr/>
        </p:nvSpPr>
        <p:spPr>
          <a:xfrm>
            <a:off x="8613648" y="1444752"/>
            <a:ext cx="2944368" cy="301752"/>
          </a:xfrm>
          <a:prstGeom prst="roundRect">
            <a:avLst/>
          </a:prstGeom>
          <a:solidFill>
            <a:srgbClr val="172033"/>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0" y="1499616"/>
            <a:ext cx="1170432" cy="146304"/>
          </a:xfrm>
          <a:prstGeom prst="rect">
            <a:avLst/>
          </a:prstGeom>
          <a:noFill/>
        </p:spPr>
        <p:txBody>
          <a:bodyPr wrap="none" lIns="36576" rIns="36576" tIns="18288" bIns="18288">
            <a:spAutoFit/>
          </a:bodyPr>
          <a:lstStyle/>
          <a:p>
            <a:pPr>
              <a:defRPr sz="770" b="1">
                <a:solidFill>
                  <a:srgbClr val="38BDF8"/>
                </a:solidFill>
              </a:defRPr>
            </a:pPr>
            <a:r>
              <a:t>scatter-gather</a:t>
            </a:r>
          </a:p>
        </p:txBody>
      </p:sp>
      <p:sp>
        <p:nvSpPr>
          <p:cNvPr id="38" name="TextBox 37"/>
          <p:cNvSpPr txBox="1"/>
          <p:nvPr/>
        </p:nvSpPr>
        <p:spPr>
          <a:xfrm>
            <a:off x="9912096" y="1499616"/>
            <a:ext cx="1554480" cy="146304"/>
          </a:xfrm>
          <a:prstGeom prst="rect">
            <a:avLst/>
          </a:prstGeom>
          <a:noFill/>
        </p:spPr>
        <p:txBody>
          <a:bodyPr wrap="none" lIns="36576" rIns="36576" tIns="18288" bIns="18288">
            <a:spAutoFit/>
          </a:bodyPr>
          <a:lstStyle/>
          <a:p>
            <a:pPr>
              <a:defRPr sz="710" b="0">
                <a:solidFill>
                  <a:srgbClr val="CBD5E1"/>
                </a:solidFill>
              </a:defRPr>
            </a:pPr>
            <a:r>
              <a:t>B-I fan-in over Wi-Fi</a:t>
            </a:r>
          </a:p>
        </p:txBody>
      </p:sp>
      <p:sp>
        <p:nvSpPr>
          <p:cNvPr id="39" name="TextBox 38"/>
          <p:cNvSpPr txBox="1"/>
          <p:nvPr/>
        </p:nvSpPr>
        <p:spPr>
          <a:xfrm>
            <a:off x="10003536" y="1709928"/>
            <a:ext cx="146304" cy="128016"/>
          </a:xfrm>
          <a:prstGeom prst="rect">
            <a:avLst/>
          </a:prstGeom>
          <a:noFill/>
        </p:spPr>
        <p:txBody>
          <a:bodyPr wrap="none" lIns="36576" rIns="36576" tIns="18288" bIns="18288">
            <a:spAutoFit/>
          </a:bodyPr>
          <a:lstStyle/>
          <a:p>
            <a:pPr algn="ctr">
              <a:defRPr sz="850" b="1">
                <a:solidFill>
                  <a:srgbClr val="94A3B8"/>
                </a:solidFill>
              </a:defRPr>
            </a:pPr>
            <a:r>
              <a:t>+</a:t>
            </a:r>
          </a:p>
        </p:txBody>
      </p:sp>
      <p:sp>
        <p:nvSpPr>
          <p:cNvPr id="40" name="Rounded Rectangle 39"/>
          <p:cNvSpPr/>
          <p:nvPr/>
        </p:nvSpPr>
        <p:spPr>
          <a:xfrm>
            <a:off x="8613648" y="1828800"/>
            <a:ext cx="2944368" cy="301752"/>
          </a:xfrm>
          <a:prstGeom prst="roundRect">
            <a:avLst/>
          </a:prstGeom>
          <a:solidFill>
            <a:srgbClr val="172033"/>
          </a:solidFill>
          <a:ln>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0" y="1883664"/>
            <a:ext cx="1170432" cy="146304"/>
          </a:xfrm>
          <a:prstGeom prst="rect">
            <a:avLst/>
          </a:prstGeom>
          <a:noFill/>
        </p:spPr>
        <p:txBody>
          <a:bodyPr wrap="none" lIns="36576" rIns="36576" tIns="18288" bIns="18288">
            <a:spAutoFit/>
          </a:bodyPr>
          <a:lstStyle/>
          <a:p>
            <a:pPr>
              <a:defRPr sz="770" b="1">
                <a:solidFill>
                  <a:srgbClr val="34D399"/>
                </a:solidFill>
              </a:defRPr>
            </a:pPr>
            <a:r>
              <a:t>cache materialization</a:t>
            </a:r>
          </a:p>
        </p:txBody>
      </p:sp>
      <p:sp>
        <p:nvSpPr>
          <p:cNvPr id="42" name="TextBox 41"/>
          <p:cNvSpPr txBox="1"/>
          <p:nvPr/>
        </p:nvSpPr>
        <p:spPr>
          <a:xfrm>
            <a:off x="9912096" y="1883664"/>
            <a:ext cx="1554480" cy="146304"/>
          </a:xfrm>
          <a:prstGeom prst="rect">
            <a:avLst/>
          </a:prstGeom>
          <a:noFill/>
        </p:spPr>
        <p:txBody>
          <a:bodyPr wrap="none" lIns="36576" rIns="36576" tIns="18288" bIns="18288">
            <a:spAutoFit/>
          </a:bodyPr>
          <a:lstStyle/>
          <a:p>
            <a:pPr>
              <a:defRPr sz="710" b="0">
                <a:solidFill>
                  <a:srgbClr val="CBD5E1"/>
                </a:solidFill>
              </a:defRPr>
            </a:pPr>
            <a:r>
              <a:t>A assembles 1.6 MB</a:t>
            </a:r>
          </a:p>
        </p:txBody>
      </p:sp>
      <p:sp>
        <p:nvSpPr>
          <p:cNvPr id="43" name="TextBox 42"/>
          <p:cNvSpPr txBox="1"/>
          <p:nvPr/>
        </p:nvSpPr>
        <p:spPr>
          <a:xfrm>
            <a:off x="10003536" y="2093976"/>
            <a:ext cx="146304" cy="128016"/>
          </a:xfrm>
          <a:prstGeom prst="rect">
            <a:avLst/>
          </a:prstGeom>
          <a:noFill/>
        </p:spPr>
        <p:txBody>
          <a:bodyPr wrap="none" lIns="36576" rIns="36576" tIns="18288" bIns="18288">
            <a:spAutoFit/>
          </a:bodyPr>
          <a:lstStyle/>
          <a:p>
            <a:pPr algn="ctr">
              <a:defRPr sz="850" b="1">
                <a:solidFill>
                  <a:srgbClr val="94A3B8"/>
                </a:solidFill>
              </a:defRPr>
            </a:pPr>
            <a:r>
              <a:t>+</a:t>
            </a:r>
          </a:p>
        </p:txBody>
      </p:sp>
      <p:sp>
        <p:nvSpPr>
          <p:cNvPr id="44" name="Rounded Rectangle 43"/>
          <p:cNvSpPr/>
          <p:nvPr/>
        </p:nvSpPr>
        <p:spPr>
          <a:xfrm>
            <a:off x="8613648" y="2212848"/>
            <a:ext cx="2944368" cy="301752"/>
          </a:xfrm>
          <a:prstGeom prst="roundRect">
            <a:avLst/>
          </a:prstGeom>
          <a:solidFill>
            <a:srgbClr val="172033"/>
          </a:solidFill>
          <a:ln>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0" y="2267712"/>
            <a:ext cx="1170432" cy="146304"/>
          </a:xfrm>
          <a:prstGeom prst="rect">
            <a:avLst/>
          </a:prstGeom>
          <a:noFill/>
        </p:spPr>
        <p:txBody>
          <a:bodyPr wrap="none" lIns="36576" rIns="36576" tIns="18288" bIns="18288">
            <a:spAutoFit/>
          </a:bodyPr>
          <a:lstStyle/>
          <a:p>
            <a:pPr>
              <a:defRPr sz="770" b="1">
                <a:solidFill>
                  <a:srgbClr val="FACC15"/>
                </a:solidFill>
              </a:defRPr>
            </a:pPr>
            <a:r>
              <a:t>amortized page cost</a:t>
            </a:r>
          </a:p>
        </p:txBody>
      </p:sp>
      <p:sp>
        <p:nvSpPr>
          <p:cNvPr id="46" name="TextBox 45"/>
          <p:cNvSpPr txBox="1"/>
          <p:nvPr/>
        </p:nvSpPr>
        <p:spPr>
          <a:xfrm>
            <a:off x="9912096" y="2267712"/>
            <a:ext cx="1554480" cy="146304"/>
          </a:xfrm>
          <a:prstGeom prst="rect">
            <a:avLst/>
          </a:prstGeom>
          <a:noFill/>
        </p:spPr>
        <p:txBody>
          <a:bodyPr wrap="none" lIns="36576" rIns="36576" tIns="18288" bIns="18288">
            <a:spAutoFit/>
          </a:bodyPr>
          <a:lstStyle/>
          <a:p>
            <a:pPr>
              <a:defRPr sz="710" b="0">
                <a:solidFill>
                  <a:srgbClr val="CBD5E1"/>
                </a:solidFill>
              </a:defRPr>
            </a:pPr>
            <a:r>
              <a:t>N QueryOnce calls</a:t>
            </a:r>
          </a:p>
        </p:txBody>
      </p:sp>
      <p:sp>
        <p:nvSpPr>
          <p:cNvPr id="47" name="TextBox 46"/>
          <p:cNvSpPr txBox="1"/>
          <p:nvPr/>
        </p:nvSpPr>
        <p:spPr>
          <a:xfrm>
            <a:off x="10003536" y="2478024"/>
            <a:ext cx="146304" cy="128016"/>
          </a:xfrm>
          <a:prstGeom prst="rect">
            <a:avLst/>
          </a:prstGeom>
          <a:noFill/>
        </p:spPr>
        <p:txBody>
          <a:bodyPr wrap="none" lIns="36576" rIns="36576" tIns="18288" bIns="18288">
            <a:spAutoFit/>
          </a:bodyPr>
          <a:lstStyle/>
          <a:p>
            <a:pPr algn="ctr">
              <a:defRPr sz="850" b="1">
                <a:solidFill>
                  <a:srgbClr val="94A3B8"/>
                </a:solidFill>
              </a:defRPr>
            </a:pPr>
            <a:r>
              <a:t>+</a:t>
            </a:r>
          </a:p>
        </p:txBody>
      </p:sp>
      <p:sp>
        <p:nvSpPr>
          <p:cNvPr id="48" name="Rounded Rectangle 47"/>
          <p:cNvSpPr/>
          <p:nvPr/>
        </p:nvSpPr>
        <p:spPr>
          <a:xfrm>
            <a:off x="8613648" y="2596896"/>
            <a:ext cx="2944368" cy="301752"/>
          </a:xfrm>
          <a:prstGeom prst="roundRect">
            <a:avLst/>
          </a:prstGeom>
          <a:solidFill>
            <a:srgbClr val="172033"/>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0" y="2651760"/>
            <a:ext cx="1170432" cy="146304"/>
          </a:xfrm>
          <a:prstGeom prst="rect">
            <a:avLst/>
          </a:prstGeom>
          <a:noFill/>
        </p:spPr>
        <p:txBody>
          <a:bodyPr wrap="none" lIns="36576" rIns="36576" tIns="18288" bIns="18288">
            <a:spAutoFit/>
          </a:bodyPr>
          <a:lstStyle/>
          <a:p>
            <a:pPr>
              <a:defRPr sz="770" b="1">
                <a:solidFill>
                  <a:srgbClr val="A78BFA"/>
                </a:solidFill>
              </a:defRPr>
            </a:pPr>
            <a:r>
              <a:t>serialization/copy</a:t>
            </a:r>
          </a:p>
        </p:txBody>
      </p:sp>
      <p:sp>
        <p:nvSpPr>
          <p:cNvPr id="50" name="TextBox 49"/>
          <p:cNvSpPr txBox="1"/>
          <p:nvPr/>
        </p:nvSpPr>
        <p:spPr>
          <a:xfrm>
            <a:off x="9912096" y="2651760"/>
            <a:ext cx="1554480" cy="146304"/>
          </a:xfrm>
          <a:prstGeom prst="rect">
            <a:avLst/>
          </a:prstGeom>
          <a:noFill/>
        </p:spPr>
        <p:txBody>
          <a:bodyPr wrap="none" lIns="36576" rIns="36576" tIns="18288" bIns="18288">
            <a:spAutoFit/>
          </a:bodyPr>
          <a:lstStyle/>
          <a:p>
            <a:pPr>
              <a:defRPr sz="710" b="0">
                <a:solidFill>
                  <a:srgbClr val="CBD5E1"/>
                </a:solidFill>
              </a:defRPr>
            </a:pPr>
            <a:r>
              <a:t>protobuf bytes + slices</a:t>
            </a:r>
          </a:p>
        </p:txBody>
      </p:sp>
      <p:sp>
        <p:nvSpPr>
          <p:cNvPr id="51" name="Rounded Rectangle 50"/>
          <p:cNvSpPr/>
          <p:nvPr/>
        </p:nvSpPr>
        <p:spPr>
          <a:xfrm>
            <a:off x="8668512" y="3182112"/>
            <a:ext cx="2852928" cy="502920"/>
          </a:xfrm>
          <a:prstGeom prst="roundRect">
            <a:avLst/>
          </a:prstGeom>
          <a:solidFill>
            <a:srgbClr val="271C13"/>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96528" y="3273552"/>
            <a:ext cx="2578608" cy="256032"/>
          </a:xfrm>
          <a:prstGeom prst="rect">
            <a:avLst/>
          </a:prstGeom>
          <a:noFill/>
        </p:spPr>
        <p:txBody>
          <a:bodyPr wrap="none" lIns="36576" rIns="36576" tIns="18288" bIns="18288">
            <a:spAutoFit/>
          </a:bodyPr>
          <a:lstStyle/>
          <a:p>
            <a:pPr algn="ctr">
              <a:defRPr sz="910" b="1">
                <a:solidFill>
                  <a:srgbClr val="FDE68A"/>
                </a:solidFill>
              </a:defRPr>
            </a:pPr>
            <a:r>
              <a:t>32 KB has mostly paid off the page-count penalty.</a:t>
            </a:r>
          </a:p>
        </p:txBody>
      </p:sp>
      <p:sp>
        <p:nvSpPr>
          <p:cNvPr id="53" name="Rounded Rectangle 52"/>
          <p:cNvSpPr/>
          <p:nvPr/>
        </p:nvSpPr>
        <p:spPr>
          <a:xfrm>
            <a:off x="274320" y="4315968"/>
            <a:ext cx="3063240" cy="1975104"/>
          </a:xfrm>
          <a:prstGeom prst="roundRect">
            <a:avLst/>
          </a:prstGeom>
          <a:solidFill>
            <a:srgbClr val="111827"/>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443984"/>
            <a:ext cx="2697480" cy="219456"/>
          </a:xfrm>
          <a:prstGeom prst="rect">
            <a:avLst/>
          </a:prstGeom>
          <a:noFill/>
        </p:spPr>
        <p:txBody>
          <a:bodyPr wrap="none" lIns="36576" rIns="36576" tIns="18288" bIns="18288">
            <a:spAutoFit/>
          </a:bodyPr>
          <a:lstStyle/>
          <a:p>
            <a:pPr>
              <a:defRPr sz="1200" b="1">
                <a:solidFill>
                  <a:srgbClr val="F8FAFC"/>
                </a:solidFill>
              </a:defRPr>
            </a:pPr>
            <a:r>
              <a:t>Page overhead multiplies</a:t>
            </a:r>
          </a:p>
        </p:txBody>
      </p:sp>
      <p:sp>
        <p:nvSpPr>
          <p:cNvPr id="55" name="TextBox 54"/>
          <p:cNvSpPr txBox="1"/>
          <p:nvPr/>
        </p:nvSpPr>
        <p:spPr>
          <a:xfrm>
            <a:off x="475488" y="4809744"/>
            <a:ext cx="566928" cy="164592"/>
          </a:xfrm>
          <a:prstGeom prst="rect">
            <a:avLst/>
          </a:prstGeom>
          <a:noFill/>
        </p:spPr>
        <p:txBody>
          <a:bodyPr wrap="none" lIns="36576" rIns="36576" tIns="18288" bIns="18288">
            <a:spAutoFit/>
          </a:bodyPr>
          <a:lstStyle/>
          <a:p>
            <a:pPr>
              <a:defRPr sz="890" b="1">
                <a:solidFill>
                  <a:srgbClr val="FB7185"/>
                </a:solidFill>
              </a:defRPr>
            </a:pPr>
            <a:r>
              <a:t>2 KB</a:t>
            </a:r>
          </a:p>
        </p:txBody>
      </p:sp>
      <p:sp>
        <p:nvSpPr>
          <p:cNvPr id="56" name="TextBox 55"/>
          <p:cNvSpPr txBox="1"/>
          <p:nvPr/>
        </p:nvSpPr>
        <p:spPr>
          <a:xfrm>
            <a:off x="1024128" y="4809744"/>
            <a:ext cx="640080" cy="164592"/>
          </a:xfrm>
          <a:prstGeom prst="rect">
            <a:avLst/>
          </a:prstGeom>
          <a:noFill/>
        </p:spPr>
        <p:txBody>
          <a:bodyPr wrap="none" lIns="36576" rIns="36576" tIns="18288" bIns="18288">
            <a:spAutoFit/>
          </a:bodyPr>
          <a:lstStyle/>
          <a:p>
            <a:pPr>
              <a:defRPr sz="790" b="0">
                <a:solidFill>
                  <a:srgbClr val="CBD5E1"/>
                </a:solidFill>
              </a:defRPr>
            </a:pPr>
            <a:r>
              <a:t>800 pages</a:t>
            </a:r>
          </a:p>
        </p:txBody>
      </p:sp>
      <p:sp>
        <p:nvSpPr>
          <p:cNvPr id="57" name="Rectangle 56"/>
          <p:cNvSpPr/>
          <p:nvPr/>
        </p:nvSpPr>
        <p:spPr>
          <a:xfrm>
            <a:off x="1737360"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792224"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847088"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901952"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956815"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011679"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066543"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121408"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76272"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231136"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286000"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2340863"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2395728"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2450591"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2505456"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560320"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615184"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670048"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5488" y="5193792"/>
            <a:ext cx="566928" cy="164592"/>
          </a:xfrm>
          <a:prstGeom prst="rect">
            <a:avLst/>
          </a:prstGeom>
          <a:noFill/>
        </p:spPr>
        <p:txBody>
          <a:bodyPr wrap="none" lIns="36576" rIns="36576" tIns="18288" bIns="18288">
            <a:spAutoFit/>
          </a:bodyPr>
          <a:lstStyle/>
          <a:p>
            <a:pPr>
              <a:defRPr sz="890" b="1">
                <a:solidFill>
                  <a:srgbClr val="38BDF8"/>
                </a:solidFill>
              </a:defRPr>
            </a:pPr>
            <a:r>
              <a:t>32 KB</a:t>
            </a:r>
          </a:p>
        </p:txBody>
      </p:sp>
      <p:sp>
        <p:nvSpPr>
          <p:cNvPr id="76" name="TextBox 75"/>
          <p:cNvSpPr txBox="1"/>
          <p:nvPr/>
        </p:nvSpPr>
        <p:spPr>
          <a:xfrm>
            <a:off x="1024128" y="5193792"/>
            <a:ext cx="640080" cy="164592"/>
          </a:xfrm>
          <a:prstGeom prst="rect">
            <a:avLst/>
          </a:prstGeom>
          <a:noFill/>
        </p:spPr>
        <p:txBody>
          <a:bodyPr wrap="none" lIns="36576" rIns="36576" tIns="18288" bIns="18288">
            <a:spAutoFit/>
          </a:bodyPr>
          <a:lstStyle/>
          <a:p>
            <a:pPr>
              <a:defRPr sz="790" b="0">
                <a:solidFill>
                  <a:srgbClr val="CBD5E1"/>
                </a:solidFill>
              </a:defRPr>
            </a:pPr>
            <a:r>
              <a:t>50 pages</a:t>
            </a:r>
          </a:p>
        </p:txBody>
      </p:sp>
      <p:sp>
        <p:nvSpPr>
          <p:cNvPr id="77" name="Rectangle 76"/>
          <p:cNvSpPr/>
          <p:nvPr/>
        </p:nvSpPr>
        <p:spPr>
          <a:xfrm>
            <a:off x="1737360"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792224"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847088"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901952"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956815"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011679"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066543"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121408"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2176272"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75488" y="5577840"/>
            <a:ext cx="566928" cy="164592"/>
          </a:xfrm>
          <a:prstGeom prst="rect">
            <a:avLst/>
          </a:prstGeom>
          <a:noFill/>
        </p:spPr>
        <p:txBody>
          <a:bodyPr wrap="none" lIns="36576" rIns="36576" tIns="18288" bIns="18288">
            <a:spAutoFit/>
          </a:bodyPr>
          <a:lstStyle/>
          <a:p>
            <a:pPr>
              <a:defRPr sz="890" b="1">
                <a:solidFill>
                  <a:srgbClr val="A78BFA"/>
                </a:solidFill>
              </a:defRPr>
            </a:pPr>
            <a:r>
              <a:t>512 KB</a:t>
            </a:r>
          </a:p>
        </p:txBody>
      </p:sp>
      <p:sp>
        <p:nvSpPr>
          <p:cNvPr id="87" name="TextBox 86"/>
          <p:cNvSpPr txBox="1"/>
          <p:nvPr/>
        </p:nvSpPr>
        <p:spPr>
          <a:xfrm>
            <a:off x="1024128" y="5577840"/>
            <a:ext cx="640080" cy="164592"/>
          </a:xfrm>
          <a:prstGeom prst="rect">
            <a:avLst/>
          </a:prstGeom>
          <a:noFill/>
        </p:spPr>
        <p:txBody>
          <a:bodyPr wrap="none" lIns="36576" rIns="36576" tIns="18288" bIns="18288">
            <a:spAutoFit/>
          </a:bodyPr>
          <a:lstStyle/>
          <a:p>
            <a:pPr>
              <a:defRPr sz="790" b="0">
                <a:solidFill>
                  <a:srgbClr val="CBD5E1"/>
                </a:solidFill>
              </a:defRPr>
            </a:pPr>
            <a:r>
              <a:t>4 pages</a:t>
            </a:r>
          </a:p>
        </p:txBody>
      </p:sp>
      <p:sp>
        <p:nvSpPr>
          <p:cNvPr id="88" name="Rectangle 87"/>
          <p:cNvSpPr/>
          <p:nvPr/>
        </p:nvSpPr>
        <p:spPr>
          <a:xfrm>
            <a:off x="1737360" y="5586984"/>
            <a:ext cx="41148" cy="146304"/>
          </a:xfrm>
          <a:prstGeom prst="rect">
            <a:avLst/>
          </a:prstGeom>
          <a:solidFill>
            <a:srgbClr val="A78BFA"/>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1792224" y="5586984"/>
            <a:ext cx="41148" cy="146304"/>
          </a:xfrm>
          <a:prstGeom prst="rect">
            <a:avLst/>
          </a:prstGeom>
          <a:solidFill>
            <a:srgbClr val="A78BFA"/>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1847088" y="5586984"/>
            <a:ext cx="41148" cy="146304"/>
          </a:xfrm>
          <a:prstGeom prst="rect">
            <a:avLst/>
          </a:prstGeom>
          <a:solidFill>
            <a:srgbClr val="A78BFA"/>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75488" y="5989320"/>
            <a:ext cx="2651760" cy="164592"/>
          </a:xfrm>
          <a:prstGeom prst="rect">
            <a:avLst/>
          </a:prstGeom>
          <a:noFill/>
        </p:spPr>
        <p:txBody>
          <a:bodyPr wrap="none" lIns="36576" rIns="36576" tIns="18288" bIns="18288">
            <a:spAutoFit/>
          </a:bodyPr>
          <a:lstStyle/>
          <a:p>
            <a:pPr algn="ctr">
              <a:defRPr sz="800" b="1">
                <a:solidFill>
                  <a:srgbClr val="FACC15"/>
                </a:solidFill>
              </a:defRPr>
            </a:pPr>
            <a:r>
              <a:t>338 ms is all 800 pages, not one chunk.</a:t>
            </a:r>
          </a:p>
        </p:txBody>
      </p:sp>
      <p:sp>
        <p:nvSpPr>
          <p:cNvPr id="92" name="Rounded Rectangle 91"/>
          <p:cNvSpPr/>
          <p:nvPr/>
        </p:nvSpPr>
        <p:spPr>
          <a:xfrm>
            <a:off x="3538728" y="4315968"/>
            <a:ext cx="3977639" cy="1975104"/>
          </a:xfrm>
          <a:prstGeom prst="roundRect">
            <a:avLst/>
          </a:prstGeom>
          <a:solidFill>
            <a:srgbClr val="0F172A"/>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3730752" y="4443984"/>
            <a:ext cx="3611880" cy="219456"/>
          </a:xfrm>
          <a:prstGeom prst="rect">
            <a:avLst/>
          </a:prstGeom>
          <a:noFill/>
        </p:spPr>
        <p:txBody>
          <a:bodyPr wrap="none" lIns="36576" rIns="36576" tIns="18288" bIns="18288">
            <a:spAutoFit/>
          </a:bodyPr>
          <a:lstStyle/>
          <a:p>
            <a:pPr algn="ctr">
              <a:defRPr sz="1200" b="1">
                <a:solidFill>
                  <a:srgbClr val="F8FAFC"/>
                </a:solidFill>
              </a:defRPr>
            </a:pPr>
            <a:r>
              <a:t>Fairness: equal turns, not identical latency</a:t>
            </a:r>
          </a:p>
        </p:txBody>
      </p:sp>
      <p:sp>
        <p:nvSpPr>
          <p:cNvPr id="94" name="TextBox 93"/>
          <p:cNvSpPr txBox="1"/>
          <p:nvPr/>
        </p:nvSpPr>
        <p:spPr>
          <a:xfrm>
            <a:off x="3767328" y="4828032"/>
            <a:ext cx="411480" cy="146304"/>
          </a:xfrm>
          <a:prstGeom prst="rect">
            <a:avLst/>
          </a:prstGeom>
          <a:noFill/>
        </p:spPr>
        <p:txBody>
          <a:bodyPr wrap="none" lIns="36576" rIns="36576" tIns="18288" bIns="18288">
            <a:spAutoFit/>
          </a:bodyPr>
          <a:lstStyle/>
          <a:p>
            <a:pPr>
              <a:defRPr sz="750" b="1">
                <a:solidFill>
                  <a:srgbClr val="38BDF8"/>
                </a:solidFill>
              </a:defRPr>
            </a:pPr>
            <a:r>
              <a:t>cli1</a:t>
            </a:r>
          </a:p>
        </p:txBody>
      </p:sp>
      <p:cxnSp>
        <p:nvCxnSpPr>
          <p:cNvPr id="95" name="Connector 94"/>
          <p:cNvCxnSpPr/>
          <p:nvPr/>
        </p:nvCxnSpPr>
        <p:spPr>
          <a:xfrm>
            <a:off x="4206240" y="4901184"/>
            <a:ext cx="621792" cy="0"/>
          </a:xfrm>
          <a:prstGeom prst="line">
            <a:avLst/>
          </a:prstGeom>
          <a:ln w="15240">
            <a:solidFill>
              <a:srgbClr val="38BDF8"/>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767328" y="5084064"/>
            <a:ext cx="411480" cy="146304"/>
          </a:xfrm>
          <a:prstGeom prst="rect">
            <a:avLst/>
          </a:prstGeom>
          <a:noFill/>
        </p:spPr>
        <p:txBody>
          <a:bodyPr wrap="none" lIns="36576" rIns="36576" tIns="18288" bIns="18288">
            <a:spAutoFit/>
          </a:bodyPr>
          <a:lstStyle/>
          <a:p>
            <a:pPr>
              <a:defRPr sz="750" b="1">
                <a:solidFill>
                  <a:srgbClr val="34D399"/>
                </a:solidFill>
              </a:defRPr>
            </a:pPr>
            <a:r>
              <a:t>cli2</a:t>
            </a:r>
          </a:p>
        </p:txBody>
      </p:sp>
      <p:cxnSp>
        <p:nvCxnSpPr>
          <p:cNvPr id="97" name="Connector 96"/>
          <p:cNvCxnSpPr/>
          <p:nvPr/>
        </p:nvCxnSpPr>
        <p:spPr>
          <a:xfrm>
            <a:off x="4206240" y="5157216"/>
            <a:ext cx="621792" cy="0"/>
          </a:xfrm>
          <a:prstGeom prst="line">
            <a:avLst/>
          </a:prstGeom>
          <a:ln w="15240">
            <a:solidFill>
              <a:srgbClr val="34D399"/>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3767328" y="5340096"/>
            <a:ext cx="411480" cy="146304"/>
          </a:xfrm>
          <a:prstGeom prst="rect">
            <a:avLst/>
          </a:prstGeom>
          <a:noFill/>
        </p:spPr>
        <p:txBody>
          <a:bodyPr wrap="none" lIns="36576" rIns="36576" tIns="18288" bIns="18288">
            <a:spAutoFit/>
          </a:bodyPr>
          <a:lstStyle/>
          <a:p>
            <a:pPr>
              <a:defRPr sz="750" b="1">
                <a:solidFill>
                  <a:srgbClr val="FACC15"/>
                </a:solidFill>
              </a:defRPr>
            </a:pPr>
            <a:r>
              <a:t>cli3</a:t>
            </a:r>
          </a:p>
        </p:txBody>
      </p:sp>
      <p:cxnSp>
        <p:nvCxnSpPr>
          <p:cNvPr id="99" name="Connector 98"/>
          <p:cNvCxnSpPr/>
          <p:nvPr/>
        </p:nvCxnSpPr>
        <p:spPr>
          <a:xfrm>
            <a:off x="4206240" y="5413248"/>
            <a:ext cx="621792" cy="0"/>
          </a:xfrm>
          <a:prstGeom prst="line">
            <a:avLst/>
          </a:prstGeom>
          <a:ln w="15240">
            <a:solidFill>
              <a:srgbClr val="FACC15"/>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3767328" y="5596128"/>
            <a:ext cx="411480" cy="146304"/>
          </a:xfrm>
          <a:prstGeom prst="rect">
            <a:avLst/>
          </a:prstGeom>
          <a:noFill/>
        </p:spPr>
        <p:txBody>
          <a:bodyPr wrap="none" lIns="36576" rIns="36576" tIns="18288" bIns="18288">
            <a:spAutoFit/>
          </a:bodyPr>
          <a:lstStyle/>
          <a:p>
            <a:pPr>
              <a:defRPr sz="750" b="1">
                <a:solidFill>
                  <a:srgbClr val="A78BFA"/>
                </a:solidFill>
              </a:defRPr>
            </a:pPr>
            <a:r>
              <a:t>cli4</a:t>
            </a:r>
          </a:p>
        </p:txBody>
      </p:sp>
      <p:cxnSp>
        <p:nvCxnSpPr>
          <p:cNvPr id="101" name="Connector 100"/>
          <p:cNvCxnSpPr/>
          <p:nvPr/>
        </p:nvCxnSpPr>
        <p:spPr>
          <a:xfrm>
            <a:off x="4206240" y="5669280"/>
            <a:ext cx="621792" cy="0"/>
          </a:xfrm>
          <a:prstGeom prst="line">
            <a:avLst/>
          </a:prstGeom>
          <a:ln w="15240">
            <a:solidFill>
              <a:srgbClr val="A78BFA"/>
            </a:solidFill>
          </a:ln>
        </p:spPr>
        <p:style>
          <a:lnRef idx="2">
            <a:schemeClr val="accent1"/>
          </a:lnRef>
          <a:fillRef idx="0">
            <a:schemeClr val="accent1"/>
          </a:fillRef>
          <a:effectRef idx="1">
            <a:schemeClr val="accent1"/>
          </a:effectRef>
          <a:fontRef idx="minor">
            <a:schemeClr val="tx1"/>
          </a:fontRef>
        </p:style>
      </p:cxnSp>
      <p:sp>
        <p:nvSpPr>
          <p:cNvPr id="102" name="Rounded Rectangle 101"/>
          <p:cNvSpPr/>
          <p:nvPr/>
        </p:nvSpPr>
        <p:spPr>
          <a:xfrm>
            <a:off x="4919472" y="4873752"/>
            <a:ext cx="713232" cy="658368"/>
          </a:xfrm>
          <a:prstGeom prst="roundRect">
            <a:avLst/>
          </a:prstGeom>
          <a:solidFill>
            <a:srgbClr val="172033"/>
          </a:solidFill>
          <a:ln>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992624" y="5020056"/>
            <a:ext cx="566928" cy="146304"/>
          </a:xfrm>
          <a:prstGeom prst="rect">
            <a:avLst/>
          </a:prstGeom>
          <a:noFill/>
        </p:spPr>
        <p:txBody>
          <a:bodyPr wrap="none" lIns="36576" rIns="36576" tIns="18288" bIns="18288">
            <a:spAutoFit/>
          </a:bodyPr>
          <a:lstStyle/>
          <a:p>
            <a:pPr algn="ctr">
              <a:defRPr sz="1300" b="1">
                <a:solidFill>
                  <a:srgbClr val="FACC15"/>
                </a:solidFill>
              </a:defRPr>
            </a:pPr>
            <a:r>
              <a:t>A</a:t>
            </a:r>
          </a:p>
        </p:txBody>
      </p:sp>
      <p:sp>
        <p:nvSpPr>
          <p:cNvPr id="104" name="TextBox 103"/>
          <p:cNvSpPr txBox="1"/>
          <p:nvPr/>
        </p:nvSpPr>
        <p:spPr>
          <a:xfrm>
            <a:off x="4974336" y="5239512"/>
            <a:ext cx="603504" cy="128016"/>
          </a:xfrm>
          <a:prstGeom prst="rect">
            <a:avLst/>
          </a:prstGeom>
          <a:noFill/>
        </p:spPr>
        <p:txBody>
          <a:bodyPr wrap="none" lIns="36576" rIns="36576" tIns="18288" bIns="18288">
            <a:spAutoFit/>
          </a:bodyPr>
          <a:lstStyle/>
          <a:p>
            <a:pPr algn="ctr">
              <a:defRPr sz="700" b="1">
                <a:solidFill>
                  <a:srgbClr val="FACC15"/>
                </a:solidFill>
              </a:defRPr>
            </a:pPr>
            <a:r>
              <a:t>queue</a:t>
            </a:r>
          </a:p>
        </p:txBody>
      </p:sp>
      <p:cxnSp>
        <p:nvCxnSpPr>
          <p:cNvPr id="105" name="Connector 104"/>
          <p:cNvCxnSpPr/>
          <p:nvPr/>
        </p:nvCxnSpPr>
        <p:spPr>
          <a:xfrm>
            <a:off x="5669280" y="5193792"/>
            <a:ext cx="457200" cy="0"/>
          </a:xfrm>
          <a:prstGeom prst="line">
            <a:avLst/>
          </a:prstGeom>
          <a:ln w="12700">
            <a:solidFill>
              <a:srgbClr val="38BDF8"/>
            </a:solidFill>
          </a:ln>
        </p:spPr>
        <p:style>
          <a:lnRef idx="2">
            <a:schemeClr val="accent1"/>
          </a:lnRef>
          <a:fillRef idx="0">
            <a:schemeClr val="accent1"/>
          </a:fillRef>
          <a:effectRef idx="1">
            <a:schemeClr val="accent1"/>
          </a:effectRef>
          <a:fontRef idx="minor">
            <a:schemeClr val="tx1"/>
          </a:fontRef>
        </p:style>
      </p:cxnSp>
      <p:sp>
        <p:nvSpPr>
          <p:cNvPr id="106" name="Rectangle 105"/>
          <p:cNvSpPr/>
          <p:nvPr/>
        </p:nvSpPr>
        <p:spPr>
          <a:xfrm>
            <a:off x="6199632" y="5074920"/>
            <a:ext cx="146304" cy="219456"/>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7" name="Connector 106"/>
          <p:cNvCxnSpPr/>
          <p:nvPr/>
        </p:nvCxnSpPr>
        <p:spPr>
          <a:xfrm>
            <a:off x="5669280" y="5193792"/>
            <a:ext cx="694944" cy="0"/>
          </a:xfrm>
          <a:prstGeom prst="line">
            <a:avLst/>
          </a:prstGeom>
          <a:ln w="12700">
            <a:solidFill>
              <a:srgbClr val="34D399"/>
            </a:solidFill>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6437376" y="5074920"/>
            <a:ext cx="146304" cy="219456"/>
          </a:xfrm>
          <a:prstGeom prst="rect">
            <a:avLst/>
          </a:prstGeom>
          <a:solidFill>
            <a:srgbClr val="34D399"/>
          </a:solidFill>
          <a:ln>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9" name="Connector 108"/>
          <p:cNvCxnSpPr/>
          <p:nvPr/>
        </p:nvCxnSpPr>
        <p:spPr>
          <a:xfrm>
            <a:off x="5669280" y="5193792"/>
            <a:ext cx="932688" cy="0"/>
          </a:xfrm>
          <a:prstGeom prst="line">
            <a:avLst/>
          </a:prstGeom>
          <a:ln w="12700">
            <a:solidFill>
              <a:srgbClr val="FACC15"/>
            </a:solidFill>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6675120" y="5074920"/>
            <a:ext cx="146304" cy="219456"/>
          </a:xfrm>
          <a:prstGeom prst="rect">
            <a:avLst/>
          </a:prstGeom>
          <a:solidFill>
            <a:srgbClr val="FACC15"/>
          </a:solidFill>
          <a:ln>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1" name="Connector 110"/>
          <p:cNvCxnSpPr/>
          <p:nvPr/>
        </p:nvCxnSpPr>
        <p:spPr>
          <a:xfrm>
            <a:off x="5669280" y="5193792"/>
            <a:ext cx="1170432" cy="0"/>
          </a:xfrm>
          <a:prstGeom prst="line">
            <a:avLst/>
          </a:prstGeom>
          <a:ln w="12700">
            <a:solidFill>
              <a:srgbClr val="A78BFA"/>
            </a:solidFill>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6912864" y="5074920"/>
            <a:ext cx="146304" cy="219456"/>
          </a:xfrm>
          <a:prstGeom prst="rect">
            <a:avLst/>
          </a:prstGeom>
          <a:solidFill>
            <a:srgbClr val="A78BFA"/>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3822191" y="5760720"/>
            <a:ext cx="3401568" cy="292608"/>
          </a:xfrm>
          <a:prstGeom prst="rect">
            <a:avLst/>
          </a:prstGeom>
          <a:noFill/>
        </p:spPr>
        <p:txBody>
          <a:bodyPr wrap="none" lIns="36576" rIns="36576" tIns="18288" bIns="18288">
            <a:spAutoFit/>
          </a:bodyPr>
          <a:lstStyle/>
          <a:p>
            <a:pPr algn="ctr">
              <a:defRPr sz="819" b="0">
                <a:solidFill>
                  <a:srgbClr val="CBD5E1"/>
                </a:solidFill>
              </a:defRPr>
            </a:pPr>
            <a:r>
              <a:t>Each client received 50 chunks; finish spread was 4.3% (116.8-121.8 ms).</a:t>
            </a:r>
          </a:p>
        </p:txBody>
      </p:sp>
      <p:sp>
        <p:nvSpPr>
          <p:cNvPr id="114" name="Rounded Rectangle 113"/>
          <p:cNvSpPr/>
          <p:nvPr/>
        </p:nvSpPr>
        <p:spPr>
          <a:xfrm>
            <a:off x="7726679" y="4315968"/>
            <a:ext cx="4206240" cy="1975104"/>
          </a:xfrm>
          <a:prstGeom prst="roundRect">
            <a:avLst/>
          </a:prstGeom>
          <a:solidFill>
            <a:srgbClr val="172033"/>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7973568" y="4434840"/>
            <a:ext cx="1051560" cy="384048"/>
          </a:xfrm>
          <a:prstGeom prst="rect">
            <a:avLst/>
          </a:prstGeom>
          <a:noFill/>
        </p:spPr>
        <p:txBody>
          <a:bodyPr wrap="none" lIns="36576" rIns="36576" tIns="18288" bIns="18288">
            <a:spAutoFit/>
          </a:bodyPr>
          <a:lstStyle/>
          <a:p>
            <a:pPr>
              <a:defRPr sz="3000" b="1">
                <a:solidFill>
                  <a:srgbClr val="FACC15"/>
                </a:solidFill>
              </a:defRPr>
            </a:pPr>
            <a:r>
              <a:t>7.7x</a:t>
            </a:r>
          </a:p>
        </p:txBody>
      </p:sp>
      <p:sp>
        <p:nvSpPr>
          <p:cNvPr id="116" name="TextBox 115"/>
          <p:cNvSpPr txBox="1"/>
          <p:nvPr/>
        </p:nvSpPr>
        <p:spPr>
          <a:xfrm>
            <a:off x="9006840" y="4535424"/>
            <a:ext cx="2423160" cy="256032"/>
          </a:xfrm>
          <a:prstGeom prst="rect">
            <a:avLst/>
          </a:prstGeom>
          <a:noFill/>
        </p:spPr>
        <p:txBody>
          <a:bodyPr wrap="none" lIns="36576" rIns="36576" tIns="18288" bIns="18288">
            <a:spAutoFit/>
          </a:bodyPr>
          <a:lstStyle/>
          <a:p>
            <a:pPr>
              <a:defRPr sz="1700" b="1">
                <a:solidFill>
                  <a:srgbClr val="38BDF8"/>
                </a:solidFill>
              </a:defRPr>
            </a:pPr>
            <a:r>
              <a:t>338 ms -&gt; 44 ms</a:t>
            </a:r>
          </a:p>
        </p:txBody>
      </p:sp>
      <p:sp>
        <p:nvSpPr>
          <p:cNvPr id="117" name="TextBox 116"/>
          <p:cNvSpPr txBox="1"/>
          <p:nvPr/>
        </p:nvSpPr>
        <p:spPr>
          <a:xfrm>
            <a:off x="7973568" y="4892040"/>
            <a:ext cx="3474720" cy="182880"/>
          </a:xfrm>
          <a:prstGeom prst="rect">
            <a:avLst/>
          </a:prstGeom>
          <a:noFill/>
        </p:spPr>
        <p:txBody>
          <a:bodyPr wrap="none" lIns="36576" rIns="36576" tIns="18288" bIns="18288">
            <a:spAutoFit/>
          </a:bodyPr>
          <a:lstStyle/>
          <a:p>
            <a:pPr>
              <a:defRPr sz="869" b="0">
                <a:solidFill>
                  <a:srgbClr val="94A3B8"/>
                </a:solidFill>
              </a:defRPr>
            </a:pPr>
            <a:r>
              <a:t>2 KB to 512 KB total mean</a:t>
            </a:r>
          </a:p>
        </p:txBody>
      </p:sp>
      <p:sp>
        <p:nvSpPr>
          <p:cNvPr id="118" name="Rounded Rectangle 117"/>
          <p:cNvSpPr/>
          <p:nvPr/>
        </p:nvSpPr>
        <p:spPr>
          <a:xfrm>
            <a:off x="8010144" y="5230368"/>
            <a:ext cx="1463040" cy="566928"/>
          </a:xfrm>
          <a:prstGeom prst="roundRect">
            <a:avLst/>
          </a:prstGeom>
          <a:solidFill>
            <a:srgbClr val="101826"/>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9710928" y="5230368"/>
            <a:ext cx="1463040" cy="566928"/>
          </a:xfrm>
          <a:prstGeom prst="roundRect">
            <a:avLst/>
          </a:prstGeom>
          <a:solidFill>
            <a:srgbClr val="101826"/>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8119872" y="5340096"/>
            <a:ext cx="1243584" cy="146304"/>
          </a:xfrm>
          <a:prstGeom prst="rect">
            <a:avLst/>
          </a:prstGeom>
          <a:noFill/>
        </p:spPr>
        <p:txBody>
          <a:bodyPr wrap="none" lIns="36576" rIns="36576" tIns="18288" bIns="18288">
            <a:spAutoFit/>
          </a:bodyPr>
          <a:lstStyle/>
          <a:p>
            <a:pPr algn="ctr">
              <a:defRPr sz="1050" b="1">
                <a:solidFill>
                  <a:srgbClr val="38BDF8"/>
                </a:solidFill>
              </a:defRPr>
            </a:pPr>
            <a:r>
              <a:t>32 KB</a:t>
            </a:r>
          </a:p>
        </p:txBody>
      </p:sp>
      <p:sp>
        <p:nvSpPr>
          <p:cNvPr id="121" name="TextBox 120"/>
          <p:cNvSpPr txBox="1"/>
          <p:nvPr/>
        </p:nvSpPr>
        <p:spPr>
          <a:xfrm>
            <a:off x="8119872" y="5532120"/>
            <a:ext cx="1243584" cy="146304"/>
          </a:xfrm>
          <a:prstGeom prst="rect">
            <a:avLst/>
          </a:prstGeom>
          <a:noFill/>
        </p:spPr>
        <p:txBody>
          <a:bodyPr wrap="none" lIns="36576" rIns="36576" tIns="18288" bIns="18288">
            <a:spAutoFit/>
          </a:bodyPr>
          <a:lstStyle/>
          <a:p>
            <a:pPr algn="ctr">
              <a:defRPr sz="740" b="0">
                <a:solidFill>
                  <a:srgbClr val="DBEAFE"/>
                </a:solidFill>
              </a:defRPr>
            </a:pPr>
            <a:r>
              <a:t>45.7 ms / P90 61</a:t>
            </a:r>
          </a:p>
        </p:txBody>
      </p:sp>
      <p:sp>
        <p:nvSpPr>
          <p:cNvPr id="122" name="TextBox 121"/>
          <p:cNvSpPr txBox="1"/>
          <p:nvPr/>
        </p:nvSpPr>
        <p:spPr>
          <a:xfrm>
            <a:off x="9820656" y="5340096"/>
            <a:ext cx="1243584" cy="146304"/>
          </a:xfrm>
          <a:prstGeom prst="rect">
            <a:avLst/>
          </a:prstGeom>
          <a:noFill/>
        </p:spPr>
        <p:txBody>
          <a:bodyPr wrap="none" lIns="36576" rIns="36576" tIns="18288" bIns="18288">
            <a:spAutoFit/>
          </a:bodyPr>
          <a:lstStyle/>
          <a:p>
            <a:pPr algn="ctr">
              <a:defRPr sz="1050" b="1">
                <a:solidFill>
                  <a:srgbClr val="A78BFA"/>
                </a:solidFill>
              </a:defRPr>
            </a:pPr>
            <a:r>
              <a:t>512 KB</a:t>
            </a:r>
          </a:p>
        </p:txBody>
      </p:sp>
      <p:sp>
        <p:nvSpPr>
          <p:cNvPr id="123" name="TextBox 122"/>
          <p:cNvSpPr txBox="1"/>
          <p:nvPr/>
        </p:nvSpPr>
        <p:spPr>
          <a:xfrm>
            <a:off x="9820656" y="5532120"/>
            <a:ext cx="1243584" cy="146304"/>
          </a:xfrm>
          <a:prstGeom prst="rect">
            <a:avLst/>
          </a:prstGeom>
          <a:noFill/>
        </p:spPr>
        <p:txBody>
          <a:bodyPr wrap="none" lIns="36576" rIns="36576" tIns="18288" bIns="18288">
            <a:spAutoFit/>
          </a:bodyPr>
          <a:lstStyle/>
          <a:p>
            <a:pPr algn="ctr">
              <a:defRPr sz="740" b="0">
                <a:solidFill>
                  <a:srgbClr val="EDE9FE"/>
                </a:solidFill>
              </a:defRPr>
            </a:pPr>
            <a:r>
              <a:t>44.0 ms / P90 110</a:t>
            </a:r>
          </a:p>
        </p:txBody>
      </p:sp>
      <p:sp>
        <p:nvSpPr>
          <p:cNvPr id="124" name="TextBox 123"/>
          <p:cNvSpPr txBox="1"/>
          <p:nvPr/>
        </p:nvSpPr>
        <p:spPr>
          <a:xfrm>
            <a:off x="8065008" y="5943600"/>
            <a:ext cx="3429000" cy="164592"/>
          </a:xfrm>
          <a:prstGeom prst="rect">
            <a:avLst/>
          </a:prstGeom>
          <a:noFill/>
        </p:spPr>
        <p:txBody>
          <a:bodyPr wrap="none" lIns="36576" rIns="36576" tIns="18288" bIns="18288">
            <a:spAutoFit/>
          </a:bodyPr>
          <a:lstStyle/>
          <a:p>
            <a:pPr algn="ctr">
              <a:defRPr sz="840" b="1">
                <a:solidFill>
                  <a:srgbClr val="FACC15"/>
                </a:solidFill>
              </a:defRPr>
            </a:pPr>
            <a:r>
              <a:t>At 32 KB, page-count cost is mostly amortized.</a:t>
            </a:r>
          </a:p>
        </p:txBody>
      </p:sp>
      <p:sp>
        <p:nvSpPr>
          <p:cNvPr id="125" name="TextBox 124"/>
          <p:cNvSpPr txBox="1"/>
          <p:nvPr/>
        </p:nvSpPr>
        <p:spPr>
          <a:xfrm>
            <a:off x="411480" y="6437376"/>
            <a:ext cx="11384280" cy="201168"/>
          </a:xfrm>
          <a:prstGeom prst="rect">
            <a:avLst/>
          </a:prstGeom>
          <a:noFill/>
        </p:spPr>
        <p:txBody>
          <a:bodyPr wrap="none" lIns="36576" rIns="36576" tIns="18288" bIns="18288">
            <a:spAutoFit/>
          </a:bodyPr>
          <a:lstStyle/>
          <a:p>
            <a:pPr algn="ctr">
              <a:defRPr sz="1070" b="1">
                <a:solidFill>
                  <a:srgbClr val="E2E8F0"/>
                </a:solidFill>
              </a:defRPr>
            </a:pPr>
            <a:r>
              <a:t>Takeaway: first page gathers/cache-builds once; chunk size controls how many later client-to-A page costs are repeated.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