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µs</c:v>
                </c:pt>
              </c:strCache>
            </c:strRef>
          </c:tx>
          <c:spPr>
            <a:solidFill>
              <a:srgbClr val="1E6FA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6FA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E6FA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E6FA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E6FA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E6FA8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0A8CC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15B
(1 rec)</c:v>
                  </c:pt>
                  <c:pt idx="1">
                    <c:v>75B
(5 rec)</c:v>
                  </c:pt>
                  <c:pt idx="2">
                    <c:v>150B
(10 rec)</c:v>
                  </c:pt>
                  <c:pt idx="3">
                    <c:v>300B
(20 rec)</c:v>
                  </c:pt>
                  <c:pt idx="4">
                    <c:v>750B
(50 rec)</c:v>
                  </c:pt>
                  <c:pt idx="5">
                    <c:v>1500B
(full)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9800</c:v>
                </c:pt>
                <c:pt idx="1">
                  <c:v>2100</c:v>
                </c:pt>
                <c:pt idx="2">
                  <c:v>1100</c:v>
                </c:pt>
                <c:pt idx="3">
                  <c:v>640</c:v>
                </c:pt>
                <c:pt idx="4">
                  <c:v>290</c:v>
                </c:pt>
                <c:pt idx="5">
                  <c:v>160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899A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1E3A4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899A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12233"/>
        </a:solidFill>
        <a:ln>
          <a:noFill/>
        </a:ln>
        <a:effectLst/>
      </c:spPr>
    </c:plotArea>
    <c:plotVisOnly val="1"/>
    <c:dispBlanksAs val="span"/>
  </c:chart>
  <c:spPr>
    <a:solidFill>
      <a:srgbClr val="112233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µs</c:v>
                </c:pt>
              </c:strCache>
            </c:strRef>
          </c:tx>
          <c:spPr>
            <a:solidFill>
              <a:srgbClr val="00A8C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A8C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A8C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A8C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0A8CC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cli1</c:v>
                  </c:pt>
                  <c:pt idx="1">
                    <c:v>cli2</c:v>
                  </c:pt>
                  <c:pt idx="2">
                    <c:v>cli3</c:v>
                  </c:pt>
                  <c:pt idx="3">
                    <c:v>cli4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1140</c:v>
                </c:pt>
                <c:pt idx="1">
                  <c:v>1155</c:v>
                </c:pt>
                <c:pt idx="2">
                  <c:v>1130</c:v>
                </c:pt>
                <c:pt idx="3">
                  <c:v>1148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899A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1050"/>
        </c:scaling>
        <c:delete val="0"/>
        <c:axPos val="l"/>
        <c:majorGridlines>
          <c:spPr>
            <a:ln w="9525" cap="flat">
              <a:solidFill>
                <a:srgbClr val="1E3A4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899A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12233"/>
        </a:solidFill>
        <a:ln>
          <a:noFill/>
        </a:ln>
        <a:effectLst/>
      </c:spPr>
    </c:plotArea>
    <c:plotVisOnly val="1"/>
    <c:dispBlanksAs val="span"/>
  </c:chart>
  <c:spPr>
    <a:solidFill>
      <a:srgbClr val="112233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5029200" cy="1207008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37160"/>
            <a:ext cx="4572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Chunk Size Is a Round-Trip Count Decision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28600" y="74980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A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Bandwidth Problem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28600" y="1078992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CMPE 275 – Mini 2  |  Spring 2026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1280160"/>
            <a:ext cx="12161520" cy="0"/>
          </a:xfrm>
          <a:prstGeom prst="line">
            <a:avLst/>
          </a:prstGeom>
          <a:noFill/>
          <a:ln w="19050">
            <a:solidFill>
              <a:srgbClr val="1E3A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" y="1417320"/>
            <a:ext cx="4572000" cy="1691640"/>
          </a:xfrm>
          <a:prstGeom prst="rect">
            <a:avLst/>
          </a:prstGeom>
          <a:solidFill>
            <a:srgbClr val="112233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481328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" y="1783080"/>
            <a:ext cx="43891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D0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Per-RPC latency is flat (~109–160 µs) regardless of chunk size. Total query latency scales linearly with chunk count. The 20× latency gap between 1-record and full chunks is purely 89 extra round trips — not bandwidth, not serialisation.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" y="3246120"/>
            <a:ext cx="4572000" cy="2606040"/>
          </a:xfrm>
          <a:prstGeom prst="rect">
            <a:avLst/>
          </a:prstGeom>
          <a:solidFill>
            <a:srgbClr val="0A1520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3310128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Tree Overlay (BFS from A)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404872" y="3950208"/>
            <a:ext cx="-1097280" cy="365760"/>
          </a:xfrm>
          <a:prstGeom prst="line">
            <a:avLst/>
          </a:prstGeom>
          <a:noFill/>
          <a:ln w="15240">
            <a:solidFill>
              <a:srgbClr val="2A5A7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404872" y="3950208"/>
            <a:ext cx="-182880" cy="365760"/>
          </a:xfrm>
          <a:prstGeom prst="line">
            <a:avLst/>
          </a:prstGeom>
          <a:noFill/>
          <a:ln w="15240">
            <a:solidFill>
              <a:srgbClr val="2A5A7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404872" y="3950208"/>
            <a:ext cx="731520" cy="365760"/>
          </a:xfrm>
          <a:prstGeom prst="line">
            <a:avLst/>
          </a:prstGeom>
          <a:noFill/>
          <a:ln w="15240">
            <a:solidFill>
              <a:srgbClr val="2A5A7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404872" y="3950208"/>
            <a:ext cx="1645920" cy="365760"/>
          </a:xfrm>
          <a:prstGeom prst="line">
            <a:avLst/>
          </a:prstGeom>
          <a:noFill/>
          <a:ln w="15240">
            <a:solidFill>
              <a:srgbClr val="2A5A7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307592" y="4544568"/>
            <a:ext cx="-594360" cy="502920"/>
          </a:xfrm>
          <a:prstGeom prst="line">
            <a:avLst/>
          </a:prstGeom>
          <a:noFill/>
          <a:ln w="15240">
            <a:solidFill>
              <a:srgbClr val="2A5A7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07592" y="4544568"/>
            <a:ext cx="0" cy="502920"/>
          </a:xfrm>
          <a:prstGeom prst="line">
            <a:avLst/>
          </a:prstGeom>
          <a:noFill/>
          <a:ln w="15240">
            <a:solidFill>
              <a:srgbClr val="2A5A7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307592" y="4544568"/>
            <a:ext cx="594360" cy="502920"/>
          </a:xfrm>
          <a:prstGeom prst="line">
            <a:avLst/>
          </a:prstGeom>
          <a:noFill/>
          <a:ln w="15240">
            <a:solidFill>
              <a:srgbClr val="2A5A7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01952" y="5276088"/>
            <a:ext cx="-274320" cy="365760"/>
          </a:xfrm>
          <a:prstGeom prst="line">
            <a:avLst/>
          </a:prstGeom>
          <a:noFill/>
          <a:ln w="15240">
            <a:solidFill>
              <a:srgbClr val="2A5A7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993392" y="3584448"/>
            <a:ext cx="402336" cy="329184"/>
          </a:xfrm>
          <a:prstGeom prst="ellipse">
            <a:avLst/>
          </a:prstGeom>
          <a:solidFill>
            <a:srgbClr val="00A8CC"/>
          </a:solidFill>
          <a:ln w="8890">
            <a:solidFill>
              <a:srgbClr val="00A8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993392" y="35478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(leader)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896112" y="4178808"/>
            <a:ext cx="402336" cy="329184"/>
          </a:xfrm>
          <a:prstGeom prst="ellipse">
            <a:avLst/>
          </a:prstGeom>
          <a:solidFill>
            <a:srgbClr val="1E6FA8"/>
          </a:solidFill>
          <a:ln w="8890">
            <a:solidFill>
              <a:srgbClr val="00A8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96112" y="414223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1810512" y="4178808"/>
            <a:ext cx="402336" cy="329184"/>
          </a:xfrm>
          <a:prstGeom prst="ellipse">
            <a:avLst/>
          </a:prstGeom>
          <a:solidFill>
            <a:srgbClr val="1E6FA8"/>
          </a:solidFill>
          <a:ln w="8890">
            <a:solidFill>
              <a:srgbClr val="00A8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810512" y="414223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2724912" y="4178808"/>
            <a:ext cx="402336" cy="329184"/>
          </a:xfrm>
          <a:prstGeom prst="ellipse">
            <a:avLst/>
          </a:prstGeom>
          <a:solidFill>
            <a:srgbClr val="1E6FA8"/>
          </a:solidFill>
          <a:ln w="8890">
            <a:solidFill>
              <a:srgbClr val="00A8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24912" y="414223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3639312" y="4178808"/>
            <a:ext cx="402336" cy="329184"/>
          </a:xfrm>
          <a:prstGeom prst="ellipse">
            <a:avLst/>
          </a:prstGeom>
          <a:solidFill>
            <a:srgbClr val="2A7A5A"/>
          </a:solidFill>
          <a:ln w="8890">
            <a:solidFill>
              <a:srgbClr val="00A8C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39312" y="414223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(py)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301752" y="4910328"/>
            <a:ext cx="402336" cy="329184"/>
          </a:xfrm>
          <a:prstGeom prst="ellipse">
            <a:avLst/>
          </a:prstGeom>
          <a:solidFill>
            <a:srgbClr val="334455"/>
          </a:solidFill>
          <a:ln w="8890">
            <a:solidFill>
              <a:srgbClr val="00A8C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01752" y="487375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896112" y="4910328"/>
            <a:ext cx="402336" cy="329184"/>
          </a:xfrm>
          <a:prstGeom prst="ellipse">
            <a:avLst/>
          </a:prstGeom>
          <a:solidFill>
            <a:srgbClr val="334455"/>
          </a:solidFill>
          <a:ln w="8890">
            <a:solidFill>
              <a:srgbClr val="00A8C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96112" y="487375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1490472" y="4910328"/>
            <a:ext cx="402336" cy="329184"/>
          </a:xfrm>
          <a:prstGeom prst="ellipse">
            <a:avLst/>
          </a:prstGeom>
          <a:solidFill>
            <a:srgbClr val="334455"/>
          </a:solidFill>
          <a:ln w="8890">
            <a:solidFill>
              <a:srgbClr val="00A8C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490472" y="487375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1216152" y="5504688"/>
            <a:ext cx="402336" cy="329184"/>
          </a:xfrm>
          <a:prstGeom prst="ellipse">
            <a:avLst/>
          </a:prstGeom>
          <a:solidFill>
            <a:srgbClr val="334455"/>
          </a:solidFill>
          <a:ln w="8890">
            <a:solidFill>
              <a:srgbClr val="00A8C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16152" y="546811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5120640" y="1353312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Chunk Size vs. Total Query Latency</a:t>
            </a:r>
            <a:endParaRPr lang="en-US" sz="1100" dirty="0"/>
          </a:p>
        </p:txBody>
      </p:sp>
      <p:graphicFrame>
        <p:nvGraphicFramePr>
          <p:cNvPr id="40" name="Chart 0" descr=""/>
          <p:cNvGraphicFramePr/>
          <p:nvPr/>
        </p:nvGraphicFramePr>
        <p:xfrm>
          <a:off x="5074920" y="1664208"/>
          <a:ext cx="438912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1" name="Text 38"/>
          <p:cNvSpPr/>
          <p:nvPr/>
        </p:nvSpPr>
        <p:spPr>
          <a:xfrm>
            <a:off x="5074920" y="4087368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Per-RPC latency flat at ~109–160 µs across all sizes — round trips are the cost, not bytes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5120640" y="4480560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WFQ: 4 Concurrent Clients (chunk=128B)</a:t>
            </a:r>
            <a:endParaRPr lang="en-US" sz="1100" dirty="0"/>
          </a:p>
        </p:txBody>
      </p:sp>
      <p:graphicFrame>
        <p:nvGraphicFramePr>
          <p:cNvPr id="43" name="Chart 1" descr=""/>
          <p:cNvGraphicFramePr/>
          <p:nvPr/>
        </p:nvGraphicFramePr>
        <p:xfrm>
          <a:off x="5074920" y="4754880"/>
          <a:ext cx="438912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4" name="Shape 40"/>
          <p:cNvSpPr/>
          <p:nvPr/>
        </p:nvSpPr>
        <p:spPr>
          <a:xfrm>
            <a:off x="9784080" y="1371600"/>
            <a:ext cx="2148840" cy="1207008"/>
          </a:xfrm>
          <a:prstGeom prst="rect">
            <a:avLst/>
          </a:prstGeom>
          <a:solidFill>
            <a:srgbClr val="112233"/>
          </a:solidFill>
          <a:ln w="19050">
            <a:solidFill>
              <a:srgbClr val="E05C5C"/>
            </a:solidFill>
            <a:prstDash val="solid"/>
          </a:ln>
        </p:spPr>
      </p:sp>
      <p:sp>
        <p:nvSpPr>
          <p:cNvPr id="45" name="Shape 41"/>
          <p:cNvSpPr/>
          <p:nvPr/>
        </p:nvSpPr>
        <p:spPr>
          <a:xfrm>
            <a:off x="9784080" y="1371600"/>
            <a:ext cx="64008" cy="1207008"/>
          </a:xfrm>
          <a:prstGeom prst="rect">
            <a:avLst/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9921240" y="1444752"/>
            <a:ext cx="1965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0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20×</a:t>
            </a:r>
            <a:endParaRPr lang="en-US" sz="3000" dirty="0"/>
          </a:p>
        </p:txBody>
      </p:sp>
      <p:sp>
        <p:nvSpPr>
          <p:cNvPr id="47" name="Text 43"/>
          <p:cNvSpPr/>
          <p:nvPr/>
        </p:nvSpPr>
        <p:spPr>
          <a:xfrm>
            <a:off x="9921240" y="192024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latency ratio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15B vs 1500B chunks</a:t>
            </a:r>
            <a:endParaRPr lang="en-US" sz="950" dirty="0"/>
          </a:p>
        </p:txBody>
      </p:sp>
      <p:sp>
        <p:nvSpPr>
          <p:cNvPr id="48" name="Shape 44"/>
          <p:cNvSpPr/>
          <p:nvPr/>
        </p:nvSpPr>
        <p:spPr>
          <a:xfrm>
            <a:off x="9784080" y="2706624"/>
            <a:ext cx="2148840" cy="1207008"/>
          </a:xfrm>
          <a:prstGeom prst="rect">
            <a:avLst/>
          </a:prstGeom>
          <a:solidFill>
            <a:srgbClr val="112233"/>
          </a:solidFill>
          <a:ln w="19050">
            <a:solidFill>
              <a:srgbClr val="00A8CC"/>
            </a:solidFill>
            <a:prstDash val="solid"/>
          </a:ln>
        </p:spPr>
      </p:sp>
      <p:sp>
        <p:nvSpPr>
          <p:cNvPr id="49" name="Shape 45"/>
          <p:cNvSpPr/>
          <p:nvPr/>
        </p:nvSpPr>
        <p:spPr>
          <a:xfrm>
            <a:off x="9784080" y="2706624"/>
            <a:ext cx="64008" cy="1207008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9921240" y="2779776"/>
            <a:ext cx="1965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A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&lt;1%</a:t>
            </a:r>
            <a:endParaRPr lang="en-US" sz="3000" dirty="0"/>
          </a:p>
        </p:txBody>
      </p:sp>
      <p:sp>
        <p:nvSpPr>
          <p:cNvPr id="51" name="Text 47"/>
          <p:cNvSpPr/>
          <p:nvPr/>
        </p:nvSpPr>
        <p:spPr>
          <a:xfrm>
            <a:off x="9921240" y="3255264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WFQ fairness spread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concurrent clients</a:t>
            </a:r>
            <a:endParaRPr lang="en-US" sz="950" dirty="0"/>
          </a:p>
        </p:txBody>
      </p:sp>
      <p:sp>
        <p:nvSpPr>
          <p:cNvPr id="52" name="Shape 48"/>
          <p:cNvSpPr/>
          <p:nvPr/>
        </p:nvSpPr>
        <p:spPr>
          <a:xfrm>
            <a:off x="9784080" y="4041648"/>
            <a:ext cx="2148840" cy="1207008"/>
          </a:xfrm>
          <a:prstGeom prst="rect">
            <a:avLst/>
          </a:prstGeom>
          <a:solidFill>
            <a:srgbClr val="112233"/>
          </a:solidFill>
          <a:ln w="19050">
            <a:solidFill>
              <a:srgbClr val="2A9A6A"/>
            </a:solidFill>
            <a:prstDash val="solid"/>
          </a:ln>
        </p:spPr>
      </p:sp>
      <p:sp>
        <p:nvSpPr>
          <p:cNvPr id="53" name="Shape 49"/>
          <p:cNvSpPr/>
          <p:nvPr/>
        </p:nvSpPr>
        <p:spPr>
          <a:xfrm>
            <a:off x="9784080" y="4041648"/>
            <a:ext cx="64008" cy="1207008"/>
          </a:xfrm>
          <a:prstGeom prst="rect">
            <a:avLst/>
          </a:prstGeom>
          <a:solidFill>
            <a:srgbClr val="2A9A6A"/>
          </a:solidFill>
          <a:ln w="12700">
            <a:solidFill>
              <a:srgbClr val="2A9A6A"/>
            </a:solidFill>
            <a:prstDash val="solid"/>
          </a:ln>
        </p:spPr>
      </p:sp>
      <p:sp>
        <p:nvSpPr>
          <p:cNvPr id="54" name="Text 50"/>
          <p:cNvSpPr/>
          <p:nvPr/>
        </p:nvSpPr>
        <p:spPr>
          <a:xfrm>
            <a:off x="9921240" y="4114800"/>
            <a:ext cx="1965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9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3000" dirty="0"/>
          </a:p>
        </p:txBody>
      </p:sp>
      <p:sp>
        <p:nvSpPr>
          <p:cNvPr id="55" name="Text 51"/>
          <p:cNvSpPr/>
          <p:nvPr/>
        </p:nvSpPr>
        <p:spPr>
          <a:xfrm>
            <a:off x="9921240" y="4590288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denser pages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pack(1) + int16 year field</a:t>
            </a:r>
            <a:endParaRPr lang="en-US" sz="950" dirty="0"/>
          </a:p>
        </p:txBody>
      </p:sp>
      <p:sp>
        <p:nvSpPr>
          <p:cNvPr id="56" name="Shape 52"/>
          <p:cNvSpPr/>
          <p:nvPr/>
        </p:nvSpPr>
        <p:spPr>
          <a:xfrm>
            <a:off x="9784080" y="5376672"/>
            <a:ext cx="2148840" cy="1207008"/>
          </a:xfrm>
          <a:prstGeom prst="rect">
            <a:avLst/>
          </a:prstGeom>
          <a:solidFill>
            <a:srgbClr val="112233"/>
          </a:solidFill>
          <a:ln w="19050">
            <a:solidFill>
              <a:srgbClr val="E09A30"/>
            </a:solidFill>
            <a:prstDash val="solid"/>
          </a:ln>
        </p:spPr>
      </p:sp>
      <p:sp>
        <p:nvSpPr>
          <p:cNvPr id="57" name="Shape 53"/>
          <p:cNvSpPr/>
          <p:nvPr/>
        </p:nvSpPr>
        <p:spPr>
          <a:xfrm>
            <a:off x="9784080" y="5376672"/>
            <a:ext cx="64008" cy="1207008"/>
          </a:xfrm>
          <a:prstGeom prst="rect">
            <a:avLst/>
          </a:prstGeom>
          <a:solidFill>
            <a:srgbClr val="E09A30"/>
          </a:solidFill>
          <a:ln w="12700">
            <a:solidFill>
              <a:srgbClr val="E09A30"/>
            </a:solidFill>
            <a:prstDash val="solid"/>
          </a:ln>
        </p:spPr>
      </p:sp>
      <p:sp>
        <p:nvSpPr>
          <p:cNvPr id="58" name="Text 54"/>
          <p:cNvSpPr/>
          <p:nvPr/>
        </p:nvSpPr>
        <p:spPr>
          <a:xfrm>
            <a:off x="9921240" y="5449824"/>
            <a:ext cx="1965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09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~85%</a:t>
            </a:r>
            <a:endParaRPr lang="en-US" sz="3000" dirty="0"/>
          </a:p>
        </p:txBody>
      </p:sp>
      <p:sp>
        <p:nvSpPr>
          <p:cNvPr id="59" name="Text 55"/>
          <p:cNvSpPr/>
          <p:nvPr/>
        </p:nvSpPr>
        <p:spPr>
          <a:xfrm>
            <a:off x="9921240" y="5925312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RPC time was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 setup (pre-fix)</a:t>
            </a:r>
            <a:endParaRPr lang="en-US" sz="950" dirty="0"/>
          </a:p>
        </p:txBody>
      </p:sp>
      <p:sp>
        <p:nvSpPr>
          <p:cNvPr id="60" name="Shape 56"/>
          <p:cNvSpPr/>
          <p:nvPr/>
        </p:nvSpPr>
        <p:spPr>
          <a:xfrm>
            <a:off x="9738360" y="5925312"/>
            <a:ext cx="2331720" cy="594360"/>
          </a:xfrm>
          <a:prstGeom prst="rect">
            <a:avLst/>
          </a:prstGeom>
          <a:solidFill>
            <a:srgbClr val="1A0A05"/>
          </a:solidFill>
          <a:ln w="12700">
            <a:solidFill>
              <a:srgbClr val="E05C5C"/>
            </a:solidFill>
            <a:prstDash val="solid"/>
          </a:ln>
        </p:spPr>
      </p:sp>
      <p:sp>
        <p:nvSpPr>
          <p:cNvPr id="61" name="Text 57"/>
          <p:cNvSpPr/>
          <p:nvPr/>
        </p:nvSpPr>
        <p:spPr>
          <a:xfrm>
            <a:off x="9784080" y="5943600"/>
            <a:ext cx="2240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B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Key failure: per-RPC channel creation added 1–5 ms/hop. Fix: reuse stubs at startup.</a:t>
            </a:r>
            <a:endParaRPr lang="en-US" sz="850" dirty="0"/>
          </a:p>
        </p:txBody>
      </p:sp>
      <p:sp>
        <p:nvSpPr>
          <p:cNvPr id="62" name="Shape 58"/>
          <p:cNvSpPr/>
          <p:nvPr/>
        </p:nvSpPr>
        <p:spPr>
          <a:xfrm>
            <a:off x="0" y="6720840"/>
            <a:ext cx="12161520" cy="137160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sp>
        <p:nvSpPr>
          <p:cNvPr id="63" name="Text 59"/>
          <p:cNvSpPr/>
          <p:nvPr/>
        </p:nvSpPr>
        <p:spPr>
          <a:xfrm>
            <a:off x="182880" y="6729984"/>
            <a:ext cx="1179576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1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Anukrithi Myadala  ·  Asim Mohammed          CMPE 275 Spring 2026  |  SJSU  |  gRPC · C++ · Python · Weighted Fair Queue · Binary Packed Records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2026-05-08T01:22:13Z</dcterms:created>
  <dcterms:modified xsi:type="dcterms:W3CDTF">2026-05-08T01:22:13Z</dcterms:modified>
</cp:coreProperties>
</file>